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90" r:id="rId32"/>
    <p:sldId id="288" r:id="rId33"/>
    <p:sldId id="289" r:id="rId34"/>
  </p:sldIdLst>
  <p:sldSz cx="18288000" cy="10287000"/>
  <p:notesSz cx="6858000" cy="9144000"/>
  <p:embeddedFontLst>
    <p:embeddedFont>
      <p:font typeface="Canva Sans" panose="020B0604020202020204" charset="0"/>
      <p:regular r:id="rId35"/>
    </p:embeddedFont>
    <p:embeddedFont>
      <p:font typeface="Canva Sans Bold" panose="020B0604020202020204" charset="0"/>
      <p:regular r:id="rId36"/>
    </p:embeddedFont>
    <p:embeddedFont>
      <p:font typeface="DM Sans" pitchFamily="2" charset="0"/>
      <p:regular r:id="rId37"/>
    </p:embeddedFont>
    <p:embeddedFont>
      <p:font typeface="DM Sans Bold" charset="0"/>
      <p:regular r:id="rId38"/>
    </p:embeddedFont>
    <p:embeddedFont>
      <p:font typeface="Helios Extended Bold" panose="020B0604020202020204" charset="0"/>
      <p:regular r:id="rId39"/>
    </p:embeddedFont>
    <p:embeddedFont>
      <p:font typeface="Kollektif Bold" panose="020B0604020202020204" charset="0"/>
      <p:regular r:id="rId40"/>
    </p:embeddedFont>
    <p:embeddedFont>
      <p:font typeface="Kollektif Bold Italics" panose="020B0604020202020204" charset="0"/>
      <p:regular r:id="rId41"/>
    </p:embeddedFont>
    <p:embeddedFont>
      <p:font typeface="Lato" panose="020F0502020204030203" pitchFamily="3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28" d="100"/>
          <a:sy n="28" d="100"/>
        </p:scale>
        <p:origin x="102" y="6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0.svg"/><Relationship Id="rId5" Type="http://schemas.openxmlformats.org/officeDocument/2006/relationships/image" Target="../media/image4.svg"/><Relationship Id="rId10" Type="http://schemas.openxmlformats.org/officeDocument/2006/relationships/image" Target="../media/image19.pn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51.jpeg"/><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3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2.svg"/></Relationships>
</file>

<file path=ppt/slides/_rels/slide3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2.svg"/></Relationships>
</file>

<file path=ppt/slides/_rels/slide3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2.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11386843" y="7201845"/>
            <a:ext cx="7415398" cy="3565095"/>
            <a:chOff x="0" y="0"/>
            <a:chExt cx="660400" cy="317500"/>
          </a:xfrm>
        </p:grpSpPr>
        <p:sp>
          <p:nvSpPr>
            <p:cNvPr id="3" name="Freeform 3"/>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p:cNvSpPr/>
          <p:nvPr/>
        </p:nvSpPr>
        <p:spPr>
          <a:xfrm flipV="1">
            <a:off x="14131544" y="7969488"/>
            <a:ext cx="5132702" cy="5185216"/>
          </a:xfrm>
          <a:prstGeom prst="line">
            <a:avLst/>
          </a:prstGeom>
          <a:ln w="28575" cap="flat">
            <a:solidFill>
              <a:srgbClr val="8CA9AD"/>
            </a:solidFill>
            <a:prstDash val="solid"/>
            <a:headEnd type="none" w="sm" len="sm"/>
            <a:tailEnd type="none" w="sm" len="sm"/>
          </a:ln>
        </p:spPr>
      </p:sp>
      <p:sp>
        <p:nvSpPr>
          <p:cNvPr id="6" name="AutoShape 6"/>
          <p:cNvSpPr/>
          <p:nvPr/>
        </p:nvSpPr>
        <p:spPr>
          <a:xfrm flipV="1">
            <a:off x="14444220" y="8329798"/>
            <a:ext cx="5038853" cy="5038853"/>
          </a:xfrm>
          <a:prstGeom prst="line">
            <a:avLst/>
          </a:prstGeom>
          <a:ln w="28575" cap="flat">
            <a:solidFill>
              <a:srgbClr val="8CA9AD"/>
            </a:solidFill>
            <a:prstDash val="solid"/>
            <a:headEnd type="none" w="sm" len="sm"/>
            <a:tailEnd type="none" w="sm" len="sm"/>
          </a:ln>
        </p:spPr>
      </p:sp>
      <p:sp>
        <p:nvSpPr>
          <p:cNvPr id="7" name="AutoShape 7"/>
          <p:cNvSpPr/>
          <p:nvPr/>
        </p:nvSpPr>
        <p:spPr>
          <a:xfrm flipV="1">
            <a:off x="14802690" y="8681112"/>
            <a:ext cx="4867141" cy="4867141"/>
          </a:xfrm>
          <a:prstGeom prst="line">
            <a:avLst/>
          </a:prstGeom>
          <a:ln w="28575" cap="flat">
            <a:solidFill>
              <a:srgbClr val="8CA9AD"/>
            </a:solidFill>
            <a:prstDash val="solid"/>
            <a:headEnd type="none" w="sm" len="sm"/>
            <a:tailEnd type="none" w="sm" len="sm"/>
          </a:ln>
        </p:spPr>
      </p:sp>
      <p:sp>
        <p:nvSpPr>
          <p:cNvPr id="8" name="Freeform 8"/>
          <p:cNvSpPr/>
          <p:nvPr/>
        </p:nvSpPr>
        <p:spPr>
          <a:xfrm rot="-10800000">
            <a:off x="9525" y="635835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083809" y="638693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0" y="74707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rot="-10800000">
            <a:off x="0" y="85545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rot="-5400000">
            <a:off x="1083809" y="85545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rot="-10800000">
            <a:off x="1083809" y="962372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Freeform 14"/>
          <p:cNvSpPr/>
          <p:nvPr/>
        </p:nvSpPr>
        <p:spPr>
          <a:xfrm rot="-10800000">
            <a:off x="3321750" y="8583123"/>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3321750" y="7499314"/>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rot="5400000">
            <a:off x="4405559" y="8583123"/>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2237941"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3321750"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Freeform 19"/>
          <p:cNvSpPr/>
          <p:nvPr/>
        </p:nvSpPr>
        <p:spPr>
          <a:xfrm rot="5400000">
            <a:off x="0" y="9638357"/>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Freeform 20"/>
          <p:cNvSpPr/>
          <p:nvPr/>
        </p:nvSpPr>
        <p:spPr>
          <a:xfrm rot="-5400000">
            <a:off x="15470622" y="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rot="-5400000">
            <a:off x="16554431" y="0"/>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flipH="1" flipV="1">
            <a:off x="17638239" y="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rot="-5400000">
            <a:off x="14386813" y="10838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Freeform 24"/>
          <p:cNvSpPr/>
          <p:nvPr/>
        </p:nvSpPr>
        <p:spPr>
          <a:xfrm rot="-5400000">
            <a:off x="15470622" y="10838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Freeform 25"/>
          <p:cNvSpPr/>
          <p:nvPr/>
        </p:nvSpPr>
        <p:spPr>
          <a:xfrm>
            <a:off x="16554431" y="2167618"/>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p:cNvSpPr/>
          <p:nvPr/>
        </p:nvSpPr>
        <p:spPr>
          <a:xfrm rot="5400000">
            <a:off x="17638239" y="10838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p:cNvSpPr/>
          <p:nvPr/>
        </p:nvSpPr>
        <p:spPr>
          <a:xfrm rot="5400000" flipH="1" flipV="1">
            <a:off x="17638239" y="2167618"/>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8" name="Freeform 28"/>
          <p:cNvSpPr/>
          <p:nvPr/>
        </p:nvSpPr>
        <p:spPr>
          <a:xfrm flipH="1" flipV="1">
            <a:off x="15470622" y="4433486"/>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9" name="Freeform 29"/>
          <p:cNvSpPr/>
          <p:nvPr/>
        </p:nvSpPr>
        <p:spPr>
          <a:xfrm rot="5400000" flipH="1" flipV="1">
            <a:off x="16554431" y="4433486"/>
            <a:ext cx="1083809" cy="1083809"/>
          </a:xfrm>
          <a:custGeom>
            <a:avLst/>
            <a:gdLst/>
            <a:ahLst/>
            <a:cxnLst/>
            <a:rect l="l" t="t" r="r" b="b"/>
            <a:pathLst>
              <a:path w="1083809" h="1083809">
                <a:moveTo>
                  <a:pt x="1083808" y="1083809"/>
                </a:moveTo>
                <a:lnTo>
                  <a:pt x="0" y="1083809"/>
                </a:lnTo>
                <a:lnTo>
                  <a:pt x="0" y="0"/>
                </a:lnTo>
                <a:lnTo>
                  <a:pt x="1083808" y="0"/>
                </a:lnTo>
                <a:lnTo>
                  <a:pt x="1083808" y="1083809"/>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30" name="Group 30"/>
          <p:cNvGrpSpPr/>
          <p:nvPr/>
        </p:nvGrpSpPr>
        <p:grpSpPr>
          <a:xfrm rot="2700000">
            <a:off x="-1376391" y="-3093321"/>
            <a:ext cx="7415398" cy="3565095"/>
            <a:chOff x="0" y="0"/>
            <a:chExt cx="660400" cy="317500"/>
          </a:xfrm>
        </p:grpSpPr>
        <p:sp>
          <p:nvSpPr>
            <p:cNvPr id="31" name="Freeform 31"/>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32" name="TextBox 32"/>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33" name="AutoShape 33"/>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34" name="AutoShape 34"/>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35" name="AutoShape 35"/>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36" name="AutoShape 36"/>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37" name="AutoShape 37"/>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38" name="AutoShape 38"/>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39" name="AutoShape 39"/>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40" name="AutoShape 40"/>
          <p:cNvSpPr/>
          <p:nvPr/>
        </p:nvSpPr>
        <p:spPr>
          <a:xfrm>
            <a:off x="-2509797" y="905760"/>
            <a:ext cx="2628598" cy="2671969"/>
          </a:xfrm>
          <a:prstGeom prst="line">
            <a:avLst/>
          </a:prstGeom>
          <a:ln w="28575" cap="flat">
            <a:solidFill>
              <a:srgbClr val="8CA9AD"/>
            </a:solidFill>
            <a:prstDash val="solid"/>
            <a:headEnd type="none" w="sm" len="sm"/>
            <a:tailEnd type="none" w="sm" len="sm"/>
          </a:ln>
        </p:spPr>
      </p:sp>
      <p:grpSp>
        <p:nvGrpSpPr>
          <p:cNvPr id="41" name="Group 41"/>
          <p:cNvGrpSpPr/>
          <p:nvPr/>
        </p:nvGrpSpPr>
        <p:grpSpPr>
          <a:xfrm>
            <a:off x="7270922" y="6930462"/>
            <a:ext cx="3746156" cy="1818653"/>
            <a:chOff x="0" y="0"/>
            <a:chExt cx="986642" cy="478987"/>
          </a:xfrm>
        </p:grpSpPr>
        <p:sp>
          <p:nvSpPr>
            <p:cNvPr id="42" name="Freeform 42"/>
            <p:cNvSpPr/>
            <p:nvPr/>
          </p:nvSpPr>
          <p:spPr>
            <a:xfrm>
              <a:off x="0" y="0"/>
              <a:ext cx="986642" cy="478987"/>
            </a:xfrm>
            <a:custGeom>
              <a:avLst/>
              <a:gdLst/>
              <a:ahLst/>
              <a:cxnLst/>
              <a:rect l="l" t="t" r="r" b="b"/>
              <a:pathLst>
                <a:path w="986642" h="478987">
                  <a:moveTo>
                    <a:pt x="0" y="0"/>
                  </a:moveTo>
                  <a:lnTo>
                    <a:pt x="986642" y="0"/>
                  </a:lnTo>
                  <a:lnTo>
                    <a:pt x="986642" y="478987"/>
                  </a:lnTo>
                  <a:lnTo>
                    <a:pt x="0" y="478987"/>
                  </a:lnTo>
                  <a:close/>
                </a:path>
              </a:pathLst>
            </a:custGeom>
            <a:solidFill>
              <a:srgbClr val="FFCB77"/>
            </a:solidFill>
          </p:spPr>
        </p:sp>
        <p:sp>
          <p:nvSpPr>
            <p:cNvPr id="43" name="TextBox 43"/>
            <p:cNvSpPr txBox="1"/>
            <p:nvPr/>
          </p:nvSpPr>
          <p:spPr>
            <a:xfrm>
              <a:off x="0" y="-47625"/>
              <a:ext cx="986642" cy="526612"/>
            </a:xfrm>
            <a:prstGeom prst="rect">
              <a:avLst/>
            </a:prstGeom>
          </p:spPr>
          <p:txBody>
            <a:bodyPr lIns="50800" tIns="50800" rIns="50800" bIns="50800" rtlCol="0" anchor="ctr"/>
            <a:lstStyle/>
            <a:p>
              <a:pPr algn="l">
                <a:lnSpc>
                  <a:spcPts val="3359"/>
                </a:lnSpc>
              </a:pPr>
              <a:r>
                <a:rPr lang="en-US" sz="2399" spc="239">
                  <a:solidFill>
                    <a:srgbClr val="000000"/>
                  </a:solidFill>
                  <a:latin typeface="Lato"/>
                  <a:ea typeface="Lato"/>
                  <a:cs typeface="Lato"/>
                  <a:sym typeface="Lato"/>
                </a:rPr>
                <a:t>Roll No: 90</a:t>
              </a:r>
            </a:p>
            <a:p>
              <a:pPr algn="l">
                <a:lnSpc>
                  <a:spcPts val="3359"/>
                </a:lnSpc>
              </a:pPr>
              <a:r>
                <a:rPr lang="en-US" sz="2399" spc="239">
                  <a:solidFill>
                    <a:srgbClr val="000000"/>
                  </a:solidFill>
                  <a:latin typeface="Lato"/>
                  <a:ea typeface="Lato"/>
                  <a:cs typeface="Lato"/>
                  <a:sym typeface="Lato"/>
                </a:rPr>
                <a:t>PRN No: 8022005098</a:t>
              </a:r>
            </a:p>
            <a:p>
              <a:pPr algn="l">
                <a:lnSpc>
                  <a:spcPts val="3359"/>
                </a:lnSpc>
              </a:pPr>
              <a:r>
                <a:rPr lang="en-US" sz="2399" spc="239">
                  <a:solidFill>
                    <a:srgbClr val="000000"/>
                  </a:solidFill>
                  <a:latin typeface="Lato"/>
                  <a:ea typeface="Lato"/>
                  <a:cs typeface="Lato"/>
                  <a:sym typeface="Lato"/>
                </a:rPr>
                <a:t>Seat No: 645190</a:t>
              </a:r>
            </a:p>
            <a:p>
              <a:pPr algn="l">
                <a:lnSpc>
                  <a:spcPts val="3359"/>
                </a:lnSpc>
              </a:pPr>
              <a:r>
                <a:rPr lang="en-US" sz="2399" spc="239">
                  <a:solidFill>
                    <a:srgbClr val="000000"/>
                  </a:solidFill>
                  <a:latin typeface="Lato"/>
                  <a:ea typeface="Lato"/>
                  <a:cs typeface="Lato"/>
                  <a:sym typeface="Lato"/>
                </a:rPr>
                <a:t>TYBCA: Div A</a:t>
              </a:r>
            </a:p>
          </p:txBody>
        </p:sp>
      </p:grpSp>
      <p:sp>
        <p:nvSpPr>
          <p:cNvPr id="44" name="TextBox 44"/>
          <p:cNvSpPr txBox="1"/>
          <p:nvPr/>
        </p:nvSpPr>
        <p:spPr>
          <a:xfrm>
            <a:off x="3804889" y="3295871"/>
            <a:ext cx="10997802" cy="2047792"/>
          </a:xfrm>
          <a:prstGeom prst="rect">
            <a:avLst/>
          </a:prstGeom>
        </p:spPr>
        <p:txBody>
          <a:bodyPr lIns="0" tIns="0" rIns="0" bIns="0" rtlCol="0" anchor="t">
            <a:spAutoFit/>
          </a:bodyPr>
          <a:lstStyle/>
          <a:p>
            <a:pPr algn="ctr">
              <a:lnSpc>
                <a:spcPts val="7311"/>
              </a:lnSpc>
            </a:pPr>
            <a:r>
              <a:rPr lang="en-US" sz="7311" b="1" i="1">
                <a:solidFill>
                  <a:srgbClr val="227C9D"/>
                </a:solidFill>
                <a:latin typeface="Kollektif Bold Italics"/>
                <a:ea typeface="Kollektif Bold Italics"/>
                <a:cs typeface="Kollektif Bold Italics"/>
                <a:sym typeface="Kollektif Bold Italics"/>
              </a:rPr>
              <a:t>PROJECT ENDSEM PRESENTATION</a:t>
            </a:r>
          </a:p>
        </p:txBody>
      </p:sp>
      <p:sp>
        <p:nvSpPr>
          <p:cNvPr id="45" name="TextBox 45"/>
          <p:cNvSpPr txBox="1"/>
          <p:nvPr/>
        </p:nvSpPr>
        <p:spPr>
          <a:xfrm>
            <a:off x="5489368" y="5863684"/>
            <a:ext cx="7197206" cy="523246"/>
          </a:xfrm>
          <a:prstGeom prst="rect">
            <a:avLst/>
          </a:prstGeom>
        </p:spPr>
        <p:txBody>
          <a:bodyPr lIns="0" tIns="0" rIns="0" bIns="0" rtlCol="0" anchor="t">
            <a:spAutoFit/>
          </a:bodyPr>
          <a:lstStyle/>
          <a:p>
            <a:pPr algn="ctr">
              <a:lnSpc>
                <a:spcPts val="4070"/>
              </a:lnSpc>
            </a:pPr>
            <a:r>
              <a:rPr lang="en-US" sz="3700" b="1">
                <a:solidFill>
                  <a:srgbClr val="545454"/>
                </a:solidFill>
                <a:latin typeface="DM Sans Bold"/>
                <a:ea typeface="DM Sans Bold"/>
                <a:cs typeface="DM Sans Bold"/>
                <a:sym typeface="DM Sans Bold"/>
              </a:rPr>
              <a:t>Prachi Sanyal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Geometric Quarter Circle Shape"/>
          <p:cNvSpPr/>
          <p:nvPr/>
        </p:nvSpPr>
        <p:spPr>
          <a:xfrm rot="-10800000">
            <a:off x="1083809" y="962372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Geometric Quarter Circle Shape"/>
          <p:cNvSpPr/>
          <p:nvPr/>
        </p:nvSpPr>
        <p:spPr>
          <a:xfrm>
            <a:off x="2237941"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descr="Geometric Quarter Circle Shape"/>
          <p:cNvSpPr/>
          <p:nvPr/>
        </p:nvSpPr>
        <p:spPr>
          <a:xfrm>
            <a:off x="3321750"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descr="Geometric Quarter Circle Shape"/>
          <p:cNvSpPr/>
          <p:nvPr/>
        </p:nvSpPr>
        <p:spPr>
          <a:xfrm rot="5400000">
            <a:off x="0" y="9638357"/>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descr="Geometric Quarter Circle Shape"/>
          <p:cNvSpPr/>
          <p:nvPr/>
        </p:nvSpPr>
        <p:spPr>
          <a:xfrm rot="-5400000">
            <a:off x="15470622" y="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descr="Geometric Quarter Circle Shape"/>
          <p:cNvSpPr/>
          <p:nvPr/>
        </p:nvSpPr>
        <p:spPr>
          <a:xfrm rot="-5400000">
            <a:off x="16554431" y="0"/>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descr="Geometric Quarter Circle Shape"/>
          <p:cNvSpPr/>
          <p:nvPr/>
        </p:nvSpPr>
        <p:spPr>
          <a:xfrm flipH="1" flipV="1">
            <a:off x="17638239" y="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descr="Geometric Quarter Circle Shape"/>
          <p:cNvSpPr/>
          <p:nvPr/>
        </p:nvSpPr>
        <p:spPr>
          <a:xfrm rot="5400000">
            <a:off x="17638239" y="10838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descr="Geometric Quarter Circle Shape"/>
          <p:cNvSpPr/>
          <p:nvPr/>
        </p:nvSpPr>
        <p:spPr>
          <a:xfrm rot="5400000" flipH="1" flipV="1">
            <a:off x="17638239" y="2167618"/>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271999" y="2114663"/>
            <a:ext cx="7908899" cy="6057674"/>
          </a:xfrm>
          <a:custGeom>
            <a:avLst/>
            <a:gdLst/>
            <a:ahLst/>
            <a:cxnLst/>
            <a:rect l="l" t="t" r="r" b="b"/>
            <a:pathLst>
              <a:path w="7908899" h="6057674">
                <a:moveTo>
                  <a:pt x="0" y="0"/>
                </a:moveTo>
                <a:lnTo>
                  <a:pt x="7908899" y="0"/>
                </a:lnTo>
                <a:lnTo>
                  <a:pt x="7908899" y="6057674"/>
                </a:lnTo>
                <a:lnTo>
                  <a:pt x="0" y="605767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9377373" y="3317998"/>
            <a:ext cx="7767627" cy="1552575"/>
          </a:xfrm>
          <a:prstGeom prst="rect">
            <a:avLst/>
          </a:prstGeom>
        </p:spPr>
        <p:txBody>
          <a:bodyPr lIns="0" tIns="0" rIns="0" bIns="0" rtlCol="0" anchor="t">
            <a:spAutoFit/>
          </a:bodyPr>
          <a:lstStyle/>
          <a:p>
            <a:pPr marL="0" lvl="0" indent="0" algn="l">
              <a:lnSpc>
                <a:spcPts val="10800"/>
              </a:lnSpc>
            </a:pPr>
            <a:r>
              <a:rPr lang="en-US" sz="9000" b="1">
                <a:solidFill>
                  <a:srgbClr val="545454"/>
                </a:solidFill>
                <a:latin typeface="Kollektif Bold"/>
                <a:ea typeface="Kollektif Bold"/>
                <a:cs typeface="Kollektif Bold"/>
                <a:sym typeface="Kollektif Bold"/>
              </a:rPr>
              <a:t>DOMAIN</a:t>
            </a:r>
          </a:p>
        </p:txBody>
      </p:sp>
      <p:sp>
        <p:nvSpPr>
          <p:cNvPr id="13" name="TextBox 13"/>
          <p:cNvSpPr txBox="1"/>
          <p:nvPr/>
        </p:nvSpPr>
        <p:spPr>
          <a:xfrm>
            <a:off x="9377373" y="5408508"/>
            <a:ext cx="7767627" cy="1255449"/>
          </a:xfrm>
          <a:prstGeom prst="rect">
            <a:avLst/>
          </a:prstGeom>
        </p:spPr>
        <p:txBody>
          <a:bodyPr lIns="0" tIns="0" rIns="0" bIns="0" rtlCol="0" anchor="t">
            <a:spAutoFit/>
          </a:bodyPr>
          <a:lstStyle/>
          <a:p>
            <a:pPr marL="0" lvl="0" indent="0" algn="l">
              <a:lnSpc>
                <a:spcPts val="5069"/>
              </a:lnSpc>
            </a:pPr>
            <a:r>
              <a:rPr lang="en-US" sz="3899">
                <a:solidFill>
                  <a:srgbClr val="545454"/>
                </a:solidFill>
                <a:latin typeface="DM Sans"/>
                <a:ea typeface="DM Sans"/>
                <a:cs typeface="DM Sans"/>
                <a:sym typeface="DM Sans"/>
              </a:rPr>
              <a:t>Full Stack Web Development</a:t>
            </a:r>
          </a:p>
          <a:p>
            <a:pPr marL="0" lvl="0" indent="0" algn="l">
              <a:lnSpc>
                <a:spcPts val="5069"/>
              </a:lnSpc>
            </a:pPr>
            <a:r>
              <a:rPr lang="en-US" sz="3899">
                <a:solidFill>
                  <a:srgbClr val="545454"/>
                </a:solidFill>
                <a:latin typeface="DM Sans"/>
                <a:ea typeface="DM Sans"/>
                <a:cs typeface="DM Sans"/>
                <a:sym typeface="DM Sans"/>
              </a:rPr>
              <a:t>( MERN Stack Developer )</a:t>
            </a:r>
          </a:p>
        </p:txBody>
      </p:sp>
      <p:sp>
        <p:nvSpPr>
          <p:cNvPr id="14" name="AutoShape 14"/>
          <p:cNvSpPr/>
          <p:nvPr/>
        </p:nvSpPr>
        <p:spPr>
          <a:xfrm>
            <a:off x="9256123" y="5186362"/>
            <a:ext cx="8384422" cy="0"/>
          </a:xfrm>
          <a:prstGeom prst="line">
            <a:avLst/>
          </a:prstGeom>
          <a:ln w="104775" cap="flat">
            <a:solidFill>
              <a:srgbClr val="0F0E0C"/>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731100" y="7136041"/>
            <a:ext cx="3955053" cy="3150959"/>
            <a:chOff x="0" y="0"/>
            <a:chExt cx="5273404" cy="4201279"/>
          </a:xfrm>
        </p:grpSpPr>
        <p:sp>
          <p:nvSpPr>
            <p:cNvPr id="3" name="Freeform 3"/>
            <p:cNvSpPr/>
            <p:nvPr/>
          </p:nvSpPr>
          <p:spPr>
            <a:xfrm rot="-10800000">
              <a:off x="9150" y="0"/>
              <a:ext cx="1041170" cy="1041170"/>
            </a:xfrm>
            <a:custGeom>
              <a:avLst/>
              <a:gdLst/>
              <a:ahLst/>
              <a:cxnLst/>
              <a:rect l="l" t="t" r="r" b="b"/>
              <a:pathLst>
                <a:path w="1041170" h="1041170">
                  <a:moveTo>
                    <a:pt x="0" y="0"/>
                  </a:moveTo>
                  <a:lnTo>
                    <a:pt x="1041170" y="0"/>
                  </a:lnTo>
                  <a:lnTo>
                    <a:pt x="1041170" y="1041170"/>
                  </a:lnTo>
                  <a:lnTo>
                    <a:pt x="0" y="10411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041170" y="27451"/>
              <a:ext cx="1041170" cy="1041170"/>
            </a:xfrm>
            <a:custGeom>
              <a:avLst/>
              <a:gdLst/>
              <a:ahLst/>
              <a:cxnLst/>
              <a:rect l="l" t="t" r="r" b="b"/>
              <a:pathLst>
                <a:path w="1041170" h="1041170">
                  <a:moveTo>
                    <a:pt x="0" y="0"/>
                  </a:moveTo>
                  <a:lnTo>
                    <a:pt x="1041169" y="0"/>
                  </a:lnTo>
                  <a:lnTo>
                    <a:pt x="1041169" y="1041169"/>
                  </a:lnTo>
                  <a:lnTo>
                    <a:pt x="0" y="10411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0" y="1068620"/>
              <a:ext cx="1041170" cy="1041170"/>
            </a:xfrm>
            <a:custGeom>
              <a:avLst/>
              <a:gdLst/>
              <a:ahLst/>
              <a:cxnLst/>
              <a:rect l="l" t="t" r="r" b="b"/>
              <a:pathLst>
                <a:path w="1041170" h="1041170">
                  <a:moveTo>
                    <a:pt x="0" y="0"/>
                  </a:moveTo>
                  <a:lnTo>
                    <a:pt x="1041170" y="0"/>
                  </a:lnTo>
                  <a:lnTo>
                    <a:pt x="1041170" y="1041170"/>
                  </a:lnTo>
                  <a:lnTo>
                    <a:pt x="0" y="10411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0" y="2109790"/>
              <a:ext cx="1041170" cy="1041170"/>
            </a:xfrm>
            <a:custGeom>
              <a:avLst/>
              <a:gdLst/>
              <a:ahLst/>
              <a:cxnLst/>
              <a:rect l="l" t="t" r="r" b="b"/>
              <a:pathLst>
                <a:path w="1041170" h="1041170">
                  <a:moveTo>
                    <a:pt x="0" y="0"/>
                  </a:moveTo>
                  <a:lnTo>
                    <a:pt x="1041170" y="0"/>
                  </a:lnTo>
                  <a:lnTo>
                    <a:pt x="1041170" y="1041169"/>
                  </a:lnTo>
                  <a:lnTo>
                    <a:pt x="0" y="10411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1041170" y="2109790"/>
              <a:ext cx="1041170" cy="1041170"/>
            </a:xfrm>
            <a:custGeom>
              <a:avLst/>
              <a:gdLst/>
              <a:ahLst/>
              <a:cxnLst/>
              <a:rect l="l" t="t" r="r" b="b"/>
              <a:pathLst>
                <a:path w="1041170" h="1041170">
                  <a:moveTo>
                    <a:pt x="0" y="0"/>
                  </a:moveTo>
                  <a:lnTo>
                    <a:pt x="1041169" y="0"/>
                  </a:lnTo>
                  <a:lnTo>
                    <a:pt x="1041169" y="1041169"/>
                  </a:lnTo>
                  <a:lnTo>
                    <a:pt x="0" y="10411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041170" y="3150959"/>
              <a:ext cx="1041170" cy="1041170"/>
            </a:xfrm>
            <a:custGeom>
              <a:avLst/>
              <a:gdLst/>
              <a:ahLst/>
              <a:cxnLst/>
              <a:rect l="l" t="t" r="r" b="b"/>
              <a:pathLst>
                <a:path w="1041170" h="1041170">
                  <a:moveTo>
                    <a:pt x="0" y="0"/>
                  </a:moveTo>
                  <a:lnTo>
                    <a:pt x="1041169" y="0"/>
                  </a:lnTo>
                  <a:lnTo>
                    <a:pt x="1041169" y="1041170"/>
                  </a:lnTo>
                  <a:lnTo>
                    <a:pt x="0" y="104117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rot="-10800000">
              <a:off x="3191065" y="2118940"/>
              <a:ext cx="1041170" cy="1041170"/>
            </a:xfrm>
            <a:custGeom>
              <a:avLst/>
              <a:gdLst/>
              <a:ahLst/>
              <a:cxnLst/>
              <a:rect l="l" t="t" r="r" b="b"/>
              <a:pathLst>
                <a:path w="1041170" h="1041170">
                  <a:moveTo>
                    <a:pt x="0" y="0"/>
                  </a:moveTo>
                  <a:lnTo>
                    <a:pt x="1041169" y="0"/>
                  </a:lnTo>
                  <a:lnTo>
                    <a:pt x="1041169" y="1041170"/>
                  </a:lnTo>
                  <a:lnTo>
                    <a:pt x="0" y="10411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3191065" y="1077771"/>
              <a:ext cx="1041170" cy="1041170"/>
            </a:xfrm>
            <a:custGeom>
              <a:avLst/>
              <a:gdLst/>
              <a:ahLst/>
              <a:cxnLst/>
              <a:rect l="l" t="t" r="r" b="b"/>
              <a:pathLst>
                <a:path w="1041170" h="1041170">
                  <a:moveTo>
                    <a:pt x="0" y="0"/>
                  </a:moveTo>
                  <a:lnTo>
                    <a:pt x="1041169" y="0"/>
                  </a:lnTo>
                  <a:lnTo>
                    <a:pt x="1041169" y="1041169"/>
                  </a:lnTo>
                  <a:lnTo>
                    <a:pt x="0" y="10411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rot="5400000">
              <a:off x="4232234" y="2118940"/>
              <a:ext cx="1041170" cy="1041170"/>
            </a:xfrm>
            <a:custGeom>
              <a:avLst/>
              <a:gdLst/>
              <a:ahLst/>
              <a:cxnLst/>
              <a:rect l="l" t="t" r="r" b="b"/>
              <a:pathLst>
                <a:path w="1041170" h="1041170">
                  <a:moveTo>
                    <a:pt x="0" y="0"/>
                  </a:moveTo>
                  <a:lnTo>
                    <a:pt x="1041170" y="0"/>
                  </a:lnTo>
                  <a:lnTo>
                    <a:pt x="1041170" y="1041170"/>
                  </a:lnTo>
                  <a:lnTo>
                    <a:pt x="0" y="10411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2149895" y="3160110"/>
              <a:ext cx="1041170" cy="1041170"/>
            </a:xfrm>
            <a:custGeom>
              <a:avLst/>
              <a:gdLst/>
              <a:ahLst/>
              <a:cxnLst/>
              <a:rect l="l" t="t" r="r" b="b"/>
              <a:pathLst>
                <a:path w="1041170" h="1041170">
                  <a:moveTo>
                    <a:pt x="0" y="0"/>
                  </a:moveTo>
                  <a:lnTo>
                    <a:pt x="1041170" y="0"/>
                  </a:lnTo>
                  <a:lnTo>
                    <a:pt x="1041170" y="1041169"/>
                  </a:lnTo>
                  <a:lnTo>
                    <a:pt x="0" y="10411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3191065" y="3160110"/>
              <a:ext cx="1041170" cy="1041170"/>
            </a:xfrm>
            <a:custGeom>
              <a:avLst/>
              <a:gdLst/>
              <a:ahLst/>
              <a:cxnLst/>
              <a:rect l="l" t="t" r="r" b="b"/>
              <a:pathLst>
                <a:path w="1041170" h="1041170">
                  <a:moveTo>
                    <a:pt x="0" y="0"/>
                  </a:moveTo>
                  <a:lnTo>
                    <a:pt x="1041169" y="0"/>
                  </a:lnTo>
                  <a:lnTo>
                    <a:pt x="1041169" y="1041169"/>
                  </a:lnTo>
                  <a:lnTo>
                    <a:pt x="0" y="104116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 name="Freeform 14"/>
            <p:cNvSpPr/>
            <p:nvPr/>
          </p:nvSpPr>
          <p:spPr>
            <a:xfrm rot="5400000">
              <a:off x="0" y="3150959"/>
              <a:ext cx="1041170" cy="1041170"/>
            </a:xfrm>
            <a:custGeom>
              <a:avLst/>
              <a:gdLst/>
              <a:ahLst/>
              <a:cxnLst/>
              <a:rect l="l" t="t" r="r" b="b"/>
              <a:pathLst>
                <a:path w="1041170" h="1041170">
                  <a:moveTo>
                    <a:pt x="0" y="0"/>
                  </a:moveTo>
                  <a:lnTo>
                    <a:pt x="1041170" y="0"/>
                  </a:lnTo>
                  <a:lnTo>
                    <a:pt x="1041170" y="1041170"/>
                  </a:lnTo>
                  <a:lnTo>
                    <a:pt x="0" y="10411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grpSp>
        <p:nvGrpSpPr>
          <p:cNvPr id="15" name="Group 15"/>
          <p:cNvGrpSpPr/>
          <p:nvPr/>
        </p:nvGrpSpPr>
        <p:grpSpPr>
          <a:xfrm>
            <a:off x="-282187" y="1139582"/>
            <a:ext cx="6462372" cy="8007835"/>
            <a:chOff x="0" y="0"/>
            <a:chExt cx="8616497" cy="10677114"/>
          </a:xfrm>
        </p:grpSpPr>
        <p:grpSp>
          <p:nvGrpSpPr>
            <p:cNvPr id="16" name="Group 16"/>
            <p:cNvGrpSpPr/>
            <p:nvPr/>
          </p:nvGrpSpPr>
          <p:grpSpPr>
            <a:xfrm>
              <a:off x="63500" y="0"/>
              <a:ext cx="8118296" cy="10677114"/>
              <a:chOff x="0" y="0"/>
              <a:chExt cx="1603614" cy="2109060"/>
            </a:xfrm>
          </p:grpSpPr>
          <p:sp>
            <p:nvSpPr>
              <p:cNvPr id="17" name="Freeform 17"/>
              <p:cNvSpPr/>
              <p:nvPr/>
            </p:nvSpPr>
            <p:spPr>
              <a:xfrm>
                <a:off x="0" y="0"/>
                <a:ext cx="1603614" cy="2109060"/>
              </a:xfrm>
              <a:custGeom>
                <a:avLst/>
                <a:gdLst/>
                <a:ahLst/>
                <a:cxnLst/>
                <a:rect l="l" t="t" r="r" b="b"/>
                <a:pathLst>
                  <a:path w="1603614" h="2109060">
                    <a:moveTo>
                      <a:pt x="0" y="0"/>
                    </a:moveTo>
                    <a:lnTo>
                      <a:pt x="1603614" y="0"/>
                    </a:lnTo>
                    <a:lnTo>
                      <a:pt x="1603614" y="2109060"/>
                    </a:lnTo>
                    <a:lnTo>
                      <a:pt x="0" y="2109060"/>
                    </a:lnTo>
                    <a:close/>
                  </a:path>
                </a:pathLst>
              </a:custGeom>
              <a:solidFill>
                <a:srgbClr val="F2E982">
                  <a:alpha val="68627"/>
                </a:srgbClr>
              </a:solidFill>
            </p:spPr>
          </p:sp>
          <p:sp>
            <p:nvSpPr>
              <p:cNvPr id="18" name="TextBox 18"/>
              <p:cNvSpPr txBox="1"/>
              <p:nvPr/>
            </p:nvSpPr>
            <p:spPr>
              <a:xfrm>
                <a:off x="0" y="19050"/>
                <a:ext cx="1603614" cy="2090010"/>
              </a:xfrm>
              <a:prstGeom prst="rect">
                <a:avLst/>
              </a:prstGeom>
            </p:spPr>
            <p:txBody>
              <a:bodyPr lIns="50800" tIns="50800" rIns="50800" bIns="50800" rtlCol="0" anchor="ctr"/>
              <a:lstStyle/>
              <a:p>
                <a:pPr algn="ctr">
                  <a:lnSpc>
                    <a:spcPts val="2553"/>
                  </a:lnSpc>
                </a:pPr>
                <a:endParaRPr/>
              </a:p>
            </p:txBody>
          </p:sp>
        </p:grpSp>
        <p:sp>
          <p:nvSpPr>
            <p:cNvPr id="19" name="Freeform 19"/>
            <p:cNvSpPr/>
            <p:nvPr/>
          </p:nvSpPr>
          <p:spPr>
            <a:xfrm>
              <a:off x="0" y="1564828"/>
              <a:ext cx="6782069" cy="6782069"/>
            </a:xfrm>
            <a:custGeom>
              <a:avLst/>
              <a:gdLst/>
              <a:ahLst/>
              <a:cxnLst/>
              <a:rect l="l" t="t" r="r" b="b"/>
              <a:pathLst>
                <a:path w="6782069" h="6782069">
                  <a:moveTo>
                    <a:pt x="0" y="0"/>
                  </a:moveTo>
                  <a:lnTo>
                    <a:pt x="6782069" y="0"/>
                  </a:lnTo>
                  <a:lnTo>
                    <a:pt x="6782069" y="6782069"/>
                  </a:lnTo>
                  <a:lnTo>
                    <a:pt x="0" y="6782069"/>
                  </a:lnTo>
                  <a:lnTo>
                    <a:pt x="0" y="0"/>
                  </a:lnTo>
                  <a:close/>
                </a:path>
              </a:pathLst>
            </a:custGeom>
            <a:blipFill>
              <a:blip r:embed="rId10"/>
              <a:stretch>
                <a:fillRect/>
              </a:stretch>
            </a:blipFill>
          </p:spPr>
        </p:sp>
        <p:sp>
          <p:nvSpPr>
            <p:cNvPr id="20" name="TextBox 20"/>
            <p:cNvSpPr txBox="1"/>
            <p:nvPr/>
          </p:nvSpPr>
          <p:spPr>
            <a:xfrm>
              <a:off x="1309307" y="1300306"/>
              <a:ext cx="7307189" cy="1770817"/>
            </a:xfrm>
            <a:prstGeom prst="rect">
              <a:avLst/>
            </a:prstGeom>
          </p:spPr>
          <p:txBody>
            <a:bodyPr lIns="0" tIns="0" rIns="0" bIns="0" rtlCol="0" anchor="t">
              <a:spAutoFit/>
            </a:bodyPr>
            <a:lstStyle/>
            <a:p>
              <a:pPr algn="l">
                <a:lnSpc>
                  <a:spcPts val="4752"/>
                </a:lnSpc>
              </a:pPr>
              <a:r>
                <a:rPr lang="en-US" sz="4800" b="1">
                  <a:solidFill>
                    <a:srgbClr val="FE6D73"/>
                  </a:solidFill>
                  <a:latin typeface="Kollektif Bold"/>
                  <a:ea typeface="Kollektif Bold"/>
                  <a:cs typeface="Kollektif Bold"/>
                  <a:sym typeface="Kollektif Bold"/>
                </a:rPr>
                <a:t>CLIENT</a:t>
              </a:r>
            </a:p>
            <a:p>
              <a:pPr algn="l">
                <a:lnSpc>
                  <a:spcPts val="4752"/>
                </a:lnSpc>
              </a:pPr>
              <a:r>
                <a:rPr lang="en-US" sz="4800" b="1">
                  <a:solidFill>
                    <a:srgbClr val="FE6D73"/>
                  </a:solidFill>
                  <a:latin typeface="Kollektif Bold"/>
                  <a:ea typeface="Kollektif Bold"/>
                  <a:cs typeface="Kollektif Bold"/>
                  <a:sym typeface="Kollektif Bold"/>
                </a:rPr>
                <a:t>OVERVIEW</a:t>
              </a:r>
            </a:p>
          </p:txBody>
        </p:sp>
        <p:sp>
          <p:nvSpPr>
            <p:cNvPr id="21" name="TextBox 21"/>
            <p:cNvSpPr txBox="1"/>
            <p:nvPr/>
          </p:nvSpPr>
          <p:spPr>
            <a:xfrm>
              <a:off x="1119572" y="7116091"/>
              <a:ext cx="6741866" cy="546064"/>
            </a:xfrm>
            <a:prstGeom prst="rect">
              <a:avLst/>
            </a:prstGeom>
          </p:spPr>
          <p:txBody>
            <a:bodyPr lIns="0" tIns="0" rIns="0" bIns="0" rtlCol="0" anchor="t">
              <a:spAutoFit/>
            </a:bodyPr>
            <a:lstStyle/>
            <a:p>
              <a:pPr algn="l">
                <a:lnSpc>
                  <a:spcPts val="3239"/>
                </a:lnSpc>
              </a:pPr>
              <a:r>
                <a:rPr lang="en-US" sz="2699" b="1">
                  <a:solidFill>
                    <a:srgbClr val="545454"/>
                  </a:solidFill>
                  <a:latin typeface="DM Sans Bold"/>
                  <a:ea typeface="DM Sans Bold"/>
                  <a:cs typeface="DM Sans Bold"/>
                  <a:sym typeface="DM Sans Bold"/>
                </a:rPr>
                <a:t>Client Name: </a:t>
              </a:r>
              <a:r>
                <a:rPr lang="en-US" sz="2699">
                  <a:solidFill>
                    <a:srgbClr val="545454"/>
                  </a:solidFill>
                  <a:latin typeface="DM Sans"/>
                  <a:ea typeface="DM Sans"/>
                  <a:cs typeface="DM Sans"/>
                  <a:sym typeface="DM Sans"/>
                </a:rPr>
                <a:t>Samarth Doshi</a:t>
              </a:r>
            </a:p>
          </p:txBody>
        </p:sp>
      </p:grpSp>
      <p:sp>
        <p:nvSpPr>
          <p:cNvPr id="22" name="TextBox 22"/>
          <p:cNvSpPr txBox="1"/>
          <p:nvPr/>
        </p:nvSpPr>
        <p:spPr>
          <a:xfrm>
            <a:off x="12202901" y="1227092"/>
            <a:ext cx="5056399" cy="2533460"/>
          </a:xfrm>
          <a:prstGeom prst="rect">
            <a:avLst/>
          </a:prstGeom>
        </p:spPr>
        <p:txBody>
          <a:bodyPr lIns="0" tIns="0" rIns="0" bIns="0" rtlCol="0" anchor="t">
            <a:spAutoFit/>
          </a:bodyPr>
          <a:lstStyle/>
          <a:p>
            <a:pPr algn="l">
              <a:lnSpc>
                <a:spcPts val="2879"/>
              </a:lnSpc>
            </a:pPr>
            <a:r>
              <a:rPr lang="en-US" sz="2400" b="1">
                <a:solidFill>
                  <a:srgbClr val="545454"/>
                </a:solidFill>
                <a:latin typeface="DM Sans Bold"/>
                <a:ea typeface="DM Sans Bold"/>
                <a:cs typeface="DM Sans Bold"/>
                <a:sym typeface="DM Sans Bold"/>
              </a:rPr>
              <a:t>   Experienced &amp; Dedicated Team:</a:t>
            </a:r>
          </a:p>
          <a:p>
            <a:pPr marL="518160" lvl="1" indent="-259080" algn="l">
              <a:lnSpc>
                <a:spcPts val="2879"/>
              </a:lnSpc>
              <a:buFont typeface="Arial"/>
              <a:buChar char="•"/>
            </a:pPr>
            <a:r>
              <a:rPr lang="en-US" sz="2400">
                <a:solidFill>
                  <a:srgbClr val="545454"/>
                </a:solidFill>
                <a:latin typeface="DM Sans"/>
                <a:ea typeface="DM Sans"/>
                <a:cs typeface="DM Sans"/>
                <a:sym typeface="DM Sans"/>
              </a:rPr>
              <a:t>Managed By: Samarth Doshi.</a:t>
            </a:r>
          </a:p>
          <a:p>
            <a:pPr marL="518160" lvl="1" indent="-259080" algn="l">
              <a:lnSpc>
                <a:spcPts val="2879"/>
              </a:lnSpc>
              <a:buFont typeface="Arial"/>
              <a:buChar char="•"/>
            </a:pPr>
            <a:r>
              <a:rPr lang="en-US" sz="2400">
                <a:solidFill>
                  <a:srgbClr val="545454"/>
                </a:solidFill>
                <a:latin typeface="DM Sans"/>
                <a:ea typeface="DM Sans"/>
                <a:cs typeface="DM Sans"/>
                <a:sym typeface="DM Sans"/>
              </a:rPr>
              <a:t>Highly Experienced Professionals.</a:t>
            </a:r>
          </a:p>
          <a:p>
            <a:pPr marL="518160" lvl="1" indent="-259080" algn="l">
              <a:lnSpc>
                <a:spcPts val="2879"/>
              </a:lnSpc>
              <a:buFont typeface="Arial"/>
              <a:buChar char="•"/>
            </a:pPr>
            <a:r>
              <a:rPr lang="en-US" sz="2400">
                <a:solidFill>
                  <a:srgbClr val="545454"/>
                </a:solidFill>
                <a:latin typeface="DM Sans"/>
                <a:ea typeface="DM Sans"/>
                <a:cs typeface="DM Sans"/>
                <a:sym typeface="DM Sans"/>
              </a:rPr>
              <a:t>Guidance by Subjective Experts.</a:t>
            </a:r>
          </a:p>
          <a:p>
            <a:pPr algn="l">
              <a:lnSpc>
                <a:spcPts val="2879"/>
              </a:lnSpc>
            </a:pPr>
            <a:endParaRPr lang="en-US" sz="2400">
              <a:solidFill>
                <a:srgbClr val="545454"/>
              </a:solidFill>
              <a:latin typeface="DM Sans"/>
              <a:ea typeface="DM Sans"/>
              <a:cs typeface="DM Sans"/>
              <a:sym typeface="DM Sans"/>
            </a:endParaRPr>
          </a:p>
        </p:txBody>
      </p:sp>
      <p:sp>
        <p:nvSpPr>
          <p:cNvPr id="23" name="TextBox 23"/>
          <p:cNvSpPr txBox="1"/>
          <p:nvPr/>
        </p:nvSpPr>
        <p:spPr>
          <a:xfrm>
            <a:off x="6414747" y="1227092"/>
            <a:ext cx="4855347" cy="2256255"/>
          </a:xfrm>
          <a:prstGeom prst="rect">
            <a:avLst/>
          </a:prstGeom>
        </p:spPr>
        <p:txBody>
          <a:bodyPr lIns="0" tIns="0" rIns="0" bIns="0" rtlCol="0" anchor="t">
            <a:spAutoFit/>
          </a:bodyPr>
          <a:lstStyle/>
          <a:p>
            <a:pPr algn="l">
              <a:lnSpc>
                <a:spcPts val="2879"/>
              </a:lnSpc>
            </a:pPr>
            <a:r>
              <a:rPr lang="en-US" sz="2400" b="1">
                <a:solidFill>
                  <a:srgbClr val="545454"/>
                </a:solidFill>
                <a:latin typeface="DM Sans Bold"/>
                <a:ea typeface="DM Sans Bold"/>
                <a:cs typeface="DM Sans Bold"/>
                <a:sym typeface="DM Sans Bold"/>
              </a:rPr>
              <a:t>   Comprehensive Curriculum:</a:t>
            </a:r>
          </a:p>
          <a:p>
            <a:pPr marL="518160" lvl="1" indent="-259080" algn="just">
              <a:lnSpc>
                <a:spcPts val="3048"/>
              </a:lnSpc>
              <a:buFont typeface="Arial"/>
              <a:buChar char="•"/>
            </a:pPr>
            <a:r>
              <a:rPr lang="en-US" sz="2400">
                <a:solidFill>
                  <a:srgbClr val="545454"/>
                </a:solidFill>
                <a:latin typeface="DM Sans"/>
                <a:ea typeface="DM Sans"/>
                <a:cs typeface="DM Sans"/>
                <a:sym typeface="DM Sans"/>
              </a:rPr>
              <a:t>Classes for Students of class 6 to 10 and 11/12 Science.</a:t>
            </a:r>
          </a:p>
          <a:p>
            <a:pPr marL="518160" lvl="1" indent="-259080" algn="just">
              <a:lnSpc>
                <a:spcPts val="3048"/>
              </a:lnSpc>
              <a:buFont typeface="Arial"/>
              <a:buChar char="•"/>
            </a:pPr>
            <a:r>
              <a:rPr lang="en-US" sz="2400">
                <a:solidFill>
                  <a:srgbClr val="545454"/>
                </a:solidFill>
                <a:latin typeface="DM Sans"/>
                <a:ea typeface="DM Sans"/>
                <a:cs typeface="DM Sans"/>
                <a:sym typeface="DM Sans"/>
              </a:rPr>
              <a:t>Boards: GSEB/CBSE/ICSC.</a:t>
            </a:r>
          </a:p>
          <a:p>
            <a:pPr marL="518160" lvl="1" indent="-259080" algn="just">
              <a:lnSpc>
                <a:spcPts val="3048"/>
              </a:lnSpc>
              <a:buFont typeface="Arial"/>
              <a:buChar char="•"/>
            </a:pPr>
            <a:r>
              <a:rPr lang="en-US" sz="2400">
                <a:solidFill>
                  <a:srgbClr val="545454"/>
                </a:solidFill>
                <a:latin typeface="DM Sans"/>
                <a:ea typeface="DM Sans"/>
                <a:cs typeface="DM Sans"/>
                <a:sym typeface="DM Sans"/>
              </a:rPr>
              <a:t>All Subjects under 1 roof.</a:t>
            </a:r>
          </a:p>
          <a:p>
            <a:pPr algn="just">
              <a:lnSpc>
                <a:spcPts val="3048"/>
              </a:lnSpc>
            </a:pPr>
            <a:endParaRPr lang="en-US" sz="2400">
              <a:solidFill>
                <a:srgbClr val="545454"/>
              </a:solidFill>
              <a:latin typeface="DM Sans"/>
              <a:ea typeface="DM Sans"/>
              <a:cs typeface="DM Sans"/>
              <a:sym typeface="DM Sans"/>
            </a:endParaRPr>
          </a:p>
        </p:txBody>
      </p:sp>
      <p:sp>
        <p:nvSpPr>
          <p:cNvPr id="24" name="TextBox 24"/>
          <p:cNvSpPr txBox="1"/>
          <p:nvPr/>
        </p:nvSpPr>
        <p:spPr>
          <a:xfrm>
            <a:off x="12202901" y="4333237"/>
            <a:ext cx="5626049" cy="3257306"/>
          </a:xfrm>
          <a:prstGeom prst="rect">
            <a:avLst/>
          </a:prstGeom>
        </p:spPr>
        <p:txBody>
          <a:bodyPr lIns="0" tIns="0" rIns="0" bIns="0" rtlCol="0" anchor="t">
            <a:spAutoFit/>
          </a:bodyPr>
          <a:lstStyle/>
          <a:p>
            <a:pPr algn="l">
              <a:lnSpc>
                <a:spcPts val="2879"/>
              </a:lnSpc>
            </a:pPr>
            <a:r>
              <a:rPr lang="en-US" sz="2400">
                <a:solidFill>
                  <a:srgbClr val="545454"/>
                </a:solidFill>
                <a:latin typeface="DM Sans"/>
                <a:ea typeface="DM Sans"/>
                <a:cs typeface="DM Sans"/>
                <a:sym typeface="DM Sans"/>
              </a:rPr>
              <a:t>   </a:t>
            </a:r>
            <a:r>
              <a:rPr lang="en-US" sz="2400" b="1">
                <a:solidFill>
                  <a:srgbClr val="545454"/>
                </a:solidFill>
                <a:latin typeface="DM Sans Bold"/>
                <a:ea typeface="DM Sans Bold"/>
                <a:cs typeface="DM Sans Bold"/>
                <a:sym typeface="DM Sans Bold"/>
              </a:rPr>
              <a:t>Contact &amp; Location:</a:t>
            </a:r>
          </a:p>
          <a:p>
            <a:pPr marL="518160" lvl="1" indent="-259080" algn="l">
              <a:lnSpc>
                <a:spcPts val="2879"/>
              </a:lnSpc>
              <a:buFont typeface="Arial"/>
              <a:buChar char="•"/>
            </a:pPr>
            <a:r>
              <a:rPr lang="en-US" sz="2400">
                <a:solidFill>
                  <a:srgbClr val="545454"/>
                </a:solidFill>
                <a:latin typeface="DM Sans"/>
                <a:ea typeface="DM Sans"/>
                <a:cs typeface="DM Sans"/>
                <a:sym typeface="DM Sans"/>
              </a:rPr>
              <a:t>Contact Num : 9687621805</a:t>
            </a:r>
          </a:p>
          <a:p>
            <a:pPr marL="518160" lvl="1" indent="-259080" algn="l">
              <a:lnSpc>
                <a:spcPts val="2879"/>
              </a:lnSpc>
              <a:buFont typeface="Arial"/>
              <a:buChar char="•"/>
            </a:pPr>
            <a:r>
              <a:rPr lang="en-US" sz="2400">
                <a:solidFill>
                  <a:srgbClr val="545454"/>
                </a:solidFill>
                <a:latin typeface="DM Sans"/>
                <a:ea typeface="DM Sans"/>
                <a:cs typeface="DM Sans"/>
                <a:sym typeface="DM Sans"/>
              </a:rPr>
              <a:t>shreejiclasses.vadodara@gmail.com</a:t>
            </a:r>
          </a:p>
          <a:p>
            <a:pPr marL="518160" lvl="1" indent="-259080" algn="l">
              <a:lnSpc>
                <a:spcPts val="2879"/>
              </a:lnSpc>
              <a:buFont typeface="Arial"/>
              <a:buChar char="•"/>
            </a:pPr>
            <a:r>
              <a:rPr lang="en-US" sz="2400">
                <a:solidFill>
                  <a:srgbClr val="545454"/>
                </a:solidFill>
                <a:latin typeface="DM Sans"/>
                <a:ea typeface="DM Sans"/>
                <a:cs typeface="DM Sans"/>
                <a:sym typeface="DM Sans"/>
              </a:rPr>
              <a:t>.Location: FF 11-14,Dream Aatman2, Opp. Billabong School, Vadsar, Vadodara-390010</a:t>
            </a:r>
          </a:p>
          <a:p>
            <a:pPr algn="l">
              <a:lnSpc>
                <a:spcPts val="2879"/>
              </a:lnSpc>
            </a:pPr>
            <a:endParaRPr lang="en-US" sz="2400">
              <a:solidFill>
                <a:srgbClr val="545454"/>
              </a:solidFill>
              <a:latin typeface="DM Sans"/>
              <a:ea typeface="DM Sans"/>
              <a:cs typeface="DM Sans"/>
              <a:sym typeface="DM Sans"/>
            </a:endParaRPr>
          </a:p>
          <a:p>
            <a:pPr algn="l">
              <a:lnSpc>
                <a:spcPts val="2879"/>
              </a:lnSpc>
            </a:pPr>
            <a:endParaRPr lang="en-US" sz="2400">
              <a:solidFill>
                <a:srgbClr val="545454"/>
              </a:solidFill>
              <a:latin typeface="DM Sans"/>
              <a:ea typeface="DM Sans"/>
              <a:cs typeface="DM Sans"/>
              <a:sym typeface="DM Sans"/>
            </a:endParaRPr>
          </a:p>
          <a:p>
            <a:pPr algn="l">
              <a:lnSpc>
                <a:spcPts val="2879"/>
              </a:lnSpc>
            </a:pPr>
            <a:endParaRPr lang="en-US" sz="2400">
              <a:solidFill>
                <a:srgbClr val="545454"/>
              </a:solidFill>
              <a:latin typeface="DM Sans"/>
              <a:ea typeface="DM Sans"/>
              <a:cs typeface="DM Sans"/>
              <a:sym typeface="DM Sans"/>
            </a:endParaRPr>
          </a:p>
        </p:txBody>
      </p:sp>
      <p:sp>
        <p:nvSpPr>
          <p:cNvPr id="25" name="TextBox 25"/>
          <p:cNvSpPr txBox="1"/>
          <p:nvPr/>
        </p:nvSpPr>
        <p:spPr>
          <a:xfrm>
            <a:off x="6414747" y="4057388"/>
            <a:ext cx="4855347" cy="3619229"/>
          </a:xfrm>
          <a:prstGeom prst="rect">
            <a:avLst/>
          </a:prstGeom>
        </p:spPr>
        <p:txBody>
          <a:bodyPr lIns="0" tIns="0" rIns="0" bIns="0" rtlCol="0" anchor="t">
            <a:spAutoFit/>
          </a:bodyPr>
          <a:lstStyle/>
          <a:p>
            <a:pPr algn="l">
              <a:lnSpc>
                <a:spcPts val="2879"/>
              </a:lnSpc>
            </a:pPr>
            <a:r>
              <a:rPr lang="en-US" sz="2400" b="1">
                <a:solidFill>
                  <a:srgbClr val="545454"/>
                </a:solidFill>
                <a:latin typeface="DM Sans Bold"/>
                <a:ea typeface="DM Sans Bold"/>
                <a:cs typeface="DM Sans Bold"/>
                <a:sym typeface="DM Sans Bold"/>
              </a:rPr>
              <a:t>   Holistic Development:</a:t>
            </a:r>
          </a:p>
          <a:p>
            <a:pPr marL="518160" lvl="1" indent="-259080" algn="l">
              <a:lnSpc>
                <a:spcPts val="2879"/>
              </a:lnSpc>
              <a:buFont typeface="Arial"/>
              <a:buChar char="•"/>
            </a:pPr>
            <a:r>
              <a:rPr lang="en-US" sz="2400">
                <a:solidFill>
                  <a:srgbClr val="545454"/>
                </a:solidFill>
                <a:latin typeface="DM Sans"/>
                <a:ea typeface="DM Sans"/>
                <a:cs typeface="DM Sans"/>
                <a:sym typeface="DM Sans"/>
              </a:rPr>
              <a:t>Personal Attention to Each and Every Student.</a:t>
            </a:r>
          </a:p>
          <a:p>
            <a:pPr marL="518160" lvl="1" indent="-259080" algn="l">
              <a:lnSpc>
                <a:spcPts val="2879"/>
              </a:lnSpc>
              <a:buFont typeface="Arial"/>
              <a:buChar char="•"/>
            </a:pPr>
            <a:r>
              <a:rPr lang="en-US" sz="2400">
                <a:solidFill>
                  <a:srgbClr val="545454"/>
                </a:solidFill>
                <a:latin typeface="DM Sans"/>
                <a:ea typeface="DM Sans"/>
                <a:cs typeface="DM Sans"/>
                <a:sym typeface="DM Sans"/>
              </a:rPr>
              <a:t>Weekly Tests.</a:t>
            </a:r>
          </a:p>
          <a:p>
            <a:pPr marL="518160" lvl="1" indent="-259080" algn="l">
              <a:lnSpc>
                <a:spcPts val="2879"/>
              </a:lnSpc>
              <a:buFont typeface="Arial"/>
              <a:buChar char="•"/>
            </a:pPr>
            <a:r>
              <a:rPr lang="en-US" sz="2400">
                <a:solidFill>
                  <a:srgbClr val="545454"/>
                </a:solidFill>
                <a:latin typeface="DM Sans"/>
                <a:ea typeface="DM Sans"/>
                <a:cs typeface="DM Sans"/>
                <a:sym typeface="DM Sans"/>
              </a:rPr>
              <a:t>Special batches for SOF Olympiad.</a:t>
            </a:r>
          </a:p>
          <a:p>
            <a:pPr marL="518160" lvl="1" indent="-259080" algn="l">
              <a:lnSpc>
                <a:spcPts val="2879"/>
              </a:lnSpc>
              <a:buFont typeface="Arial"/>
              <a:buChar char="•"/>
            </a:pPr>
            <a:r>
              <a:rPr lang="en-US" sz="2400">
                <a:solidFill>
                  <a:srgbClr val="545454"/>
                </a:solidFill>
                <a:latin typeface="DM Sans"/>
                <a:ea typeface="DM Sans"/>
                <a:cs typeface="DM Sans"/>
                <a:sym typeface="DM Sans"/>
              </a:rPr>
              <a:t>Special class for Gujcet/JEE/NEET.</a:t>
            </a:r>
          </a:p>
          <a:p>
            <a:pPr marL="518160" lvl="1" indent="-259080" algn="l">
              <a:lnSpc>
                <a:spcPts val="2879"/>
              </a:lnSpc>
              <a:buFont typeface="Arial"/>
              <a:buChar char="•"/>
            </a:pPr>
            <a:r>
              <a:rPr lang="en-US" sz="2400">
                <a:solidFill>
                  <a:srgbClr val="545454"/>
                </a:solidFill>
                <a:latin typeface="DM Sans"/>
                <a:ea typeface="DM Sans"/>
                <a:cs typeface="DM Sans"/>
                <a:sym typeface="DM Sans"/>
              </a:rPr>
              <a:t>Career Guidance.</a:t>
            </a:r>
          </a:p>
          <a:p>
            <a:pPr algn="l">
              <a:lnSpc>
                <a:spcPts val="2879"/>
              </a:lnSpc>
            </a:pPr>
            <a:endParaRPr lang="en-US" sz="2400">
              <a:solidFill>
                <a:srgbClr val="545454"/>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50908" y="862160"/>
            <a:ext cx="8878556" cy="8562681"/>
            <a:chOff x="0" y="0"/>
            <a:chExt cx="11838075" cy="11416908"/>
          </a:xfrm>
        </p:grpSpPr>
        <p:grpSp>
          <p:nvGrpSpPr>
            <p:cNvPr id="3" name="Group 3"/>
            <p:cNvGrpSpPr/>
            <p:nvPr/>
          </p:nvGrpSpPr>
          <p:grpSpPr>
            <a:xfrm>
              <a:off x="0" y="0"/>
              <a:ext cx="11838075" cy="11416908"/>
              <a:chOff x="0" y="0"/>
              <a:chExt cx="2338385" cy="2255192"/>
            </a:xfrm>
          </p:grpSpPr>
          <p:sp>
            <p:nvSpPr>
              <p:cNvPr id="4" name="Freeform 4"/>
              <p:cNvSpPr/>
              <p:nvPr/>
            </p:nvSpPr>
            <p:spPr>
              <a:xfrm>
                <a:off x="0" y="0"/>
                <a:ext cx="2338385" cy="2255192"/>
              </a:xfrm>
              <a:custGeom>
                <a:avLst/>
                <a:gdLst/>
                <a:ahLst/>
                <a:cxnLst/>
                <a:rect l="l" t="t" r="r" b="b"/>
                <a:pathLst>
                  <a:path w="2338385" h="2255192">
                    <a:moveTo>
                      <a:pt x="0" y="0"/>
                    </a:moveTo>
                    <a:lnTo>
                      <a:pt x="2338385" y="0"/>
                    </a:lnTo>
                    <a:lnTo>
                      <a:pt x="2338385" y="2255192"/>
                    </a:lnTo>
                    <a:lnTo>
                      <a:pt x="0" y="2255192"/>
                    </a:lnTo>
                    <a:close/>
                  </a:path>
                </a:pathLst>
              </a:custGeom>
              <a:solidFill>
                <a:srgbClr val="FFFFFF"/>
              </a:solidFill>
              <a:ln w="38100" cap="sq">
                <a:solidFill>
                  <a:srgbClr val="000000"/>
                </a:solidFill>
                <a:prstDash val="solid"/>
                <a:miter/>
              </a:ln>
            </p:spPr>
          </p:sp>
          <p:sp>
            <p:nvSpPr>
              <p:cNvPr id="5" name="TextBox 5"/>
              <p:cNvSpPr txBox="1"/>
              <p:nvPr/>
            </p:nvSpPr>
            <p:spPr>
              <a:xfrm>
                <a:off x="0" y="19050"/>
                <a:ext cx="2338385" cy="2236142"/>
              </a:xfrm>
              <a:prstGeom prst="rect">
                <a:avLst/>
              </a:prstGeom>
            </p:spPr>
            <p:txBody>
              <a:bodyPr lIns="50800" tIns="50800" rIns="50800" bIns="50800" rtlCol="0" anchor="ctr"/>
              <a:lstStyle/>
              <a:p>
                <a:pPr algn="ctr">
                  <a:lnSpc>
                    <a:spcPts val="2553"/>
                  </a:lnSpc>
                </a:pPr>
                <a:endParaRPr/>
              </a:p>
            </p:txBody>
          </p:sp>
        </p:grpSp>
        <p:sp>
          <p:nvSpPr>
            <p:cNvPr id="6" name="Freeform 6"/>
            <p:cNvSpPr/>
            <p:nvPr/>
          </p:nvSpPr>
          <p:spPr>
            <a:xfrm>
              <a:off x="1113496" y="719788"/>
              <a:ext cx="3919249" cy="3919249"/>
            </a:xfrm>
            <a:custGeom>
              <a:avLst/>
              <a:gdLst/>
              <a:ahLst/>
              <a:cxnLst/>
              <a:rect l="l" t="t" r="r" b="b"/>
              <a:pathLst>
                <a:path w="3919249" h="3919249">
                  <a:moveTo>
                    <a:pt x="0" y="0"/>
                  </a:moveTo>
                  <a:lnTo>
                    <a:pt x="3919249" y="0"/>
                  </a:lnTo>
                  <a:lnTo>
                    <a:pt x="3919249" y="3919250"/>
                  </a:lnTo>
                  <a:lnTo>
                    <a:pt x="0" y="3919250"/>
                  </a:lnTo>
                  <a:lnTo>
                    <a:pt x="0" y="0"/>
                  </a:lnTo>
                  <a:close/>
                </a:path>
              </a:pathLst>
            </a:custGeom>
            <a:blipFill>
              <a:blip r:embed="rId2"/>
              <a:stretch>
                <a:fillRect/>
              </a:stretch>
            </a:blipFill>
          </p:spPr>
        </p:sp>
        <p:sp>
          <p:nvSpPr>
            <p:cNvPr id="7" name="TextBox 7"/>
            <p:cNvSpPr txBox="1"/>
            <p:nvPr/>
          </p:nvSpPr>
          <p:spPr>
            <a:xfrm>
              <a:off x="1932046" y="4214464"/>
              <a:ext cx="2282149" cy="470264"/>
            </a:xfrm>
            <a:prstGeom prst="rect">
              <a:avLst/>
            </a:prstGeom>
          </p:spPr>
          <p:txBody>
            <a:bodyPr lIns="0" tIns="0" rIns="0" bIns="0" rtlCol="0" anchor="t">
              <a:spAutoFit/>
            </a:bodyPr>
            <a:lstStyle/>
            <a:p>
              <a:pPr algn="ctr">
                <a:lnSpc>
                  <a:spcPts val="2973"/>
                </a:lnSpc>
                <a:spcBef>
                  <a:spcPct val="0"/>
                </a:spcBef>
              </a:pPr>
              <a:r>
                <a:rPr lang="en-US" sz="2124" spc="212">
                  <a:solidFill>
                    <a:srgbClr val="2E3840"/>
                  </a:solidFill>
                  <a:latin typeface="Lato"/>
                  <a:ea typeface="Lato"/>
                  <a:cs typeface="Lato"/>
                  <a:sym typeface="Lato"/>
                </a:rPr>
                <a:t>Code Editor</a:t>
              </a:r>
            </a:p>
          </p:txBody>
        </p:sp>
        <p:sp>
          <p:nvSpPr>
            <p:cNvPr id="8" name="Freeform 8"/>
            <p:cNvSpPr/>
            <p:nvPr/>
          </p:nvSpPr>
          <p:spPr>
            <a:xfrm>
              <a:off x="1288237" y="6031361"/>
              <a:ext cx="3744508" cy="3365317"/>
            </a:xfrm>
            <a:custGeom>
              <a:avLst/>
              <a:gdLst/>
              <a:ahLst/>
              <a:cxnLst/>
              <a:rect l="l" t="t" r="r" b="b"/>
              <a:pathLst>
                <a:path w="3744508" h="3365317">
                  <a:moveTo>
                    <a:pt x="0" y="0"/>
                  </a:moveTo>
                  <a:lnTo>
                    <a:pt x="3744508" y="0"/>
                  </a:lnTo>
                  <a:lnTo>
                    <a:pt x="3744508" y="3365317"/>
                  </a:lnTo>
                  <a:lnTo>
                    <a:pt x="0" y="3365317"/>
                  </a:lnTo>
                  <a:lnTo>
                    <a:pt x="0" y="0"/>
                  </a:lnTo>
                  <a:close/>
                </a:path>
              </a:pathLst>
            </a:custGeom>
            <a:blipFill>
              <a:blip r:embed="rId3"/>
              <a:stretch>
                <a:fillRect/>
              </a:stretch>
            </a:blipFill>
          </p:spPr>
        </p:sp>
        <p:sp>
          <p:nvSpPr>
            <p:cNvPr id="9" name="TextBox 9"/>
            <p:cNvSpPr txBox="1"/>
            <p:nvPr/>
          </p:nvSpPr>
          <p:spPr>
            <a:xfrm>
              <a:off x="1707309" y="10013917"/>
              <a:ext cx="2982565" cy="470264"/>
            </a:xfrm>
            <a:prstGeom prst="rect">
              <a:avLst/>
            </a:prstGeom>
          </p:spPr>
          <p:txBody>
            <a:bodyPr lIns="0" tIns="0" rIns="0" bIns="0" rtlCol="0" anchor="t">
              <a:spAutoFit/>
            </a:bodyPr>
            <a:lstStyle/>
            <a:p>
              <a:pPr algn="ctr">
                <a:lnSpc>
                  <a:spcPts val="2973"/>
                </a:lnSpc>
                <a:spcBef>
                  <a:spcPct val="0"/>
                </a:spcBef>
              </a:pPr>
              <a:r>
                <a:rPr lang="en-US" sz="2124" spc="212">
                  <a:solidFill>
                    <a:srgbClr val="2E3840"/>
                  </a:solidFill>
                  <a:latin typeface="Lato"/>
                  <a:ea typeface="Lato"/>
                  <a:cs typeface="Lato"/>
                  <a:sym typeface="Lato"/>
                </a:rPr>
                <a:t>For API Testing</a:t>
              </a:r>
            </a:p>
          </p:txBody>
        </p:sp>
        <p:sp>
          <p:nvSpPr>
            <p:cNvPr id="10" name="Freeform 10"/>
            <p:cNvSpPr/>
            <p:nvPr/>
          </p:nvSpPr>
          <p:spPr>
            <a:xfrm>
              <a:off x="6506107" y="5590041"/>
              <a:ext cx="4116897" cy="4116897"/>
            </a:xfrm>
            <a:custGeom>
              <a:avLst/>
              <a:gdLst/>
              <a:ahLst/>
              <a:cxnLst/>
              <a:rect l="l" t="t" r="r" b="b"/>
              <a:pathLst>
                <a:path w="4116897" h="4116897">
                  <a:moveTo>
                    <a:pt x="0" y="0"/>
                  </a:moveTo>
                  <a:lnTo>
                    <a:pt x="4116897" y="0"/>
                  </a:lnTo>
                  <a:lnTo>
                    <a:pt x="4116897" y="4116897"/>
                  </a:lnTo>
                  <a:lnTo>
                    <a:pt x="0" y="4116897"/>
                  </a:lnTo>
                  <a:lnTo>
                    <a:pt x="0" y="0"/>
                  </a:lnTo>
                  <a:close/>
                </a:path>
              </a:pathLst>
            </a:custGeom>
            <a:blipFill>
              <a:blip r:embed="rId4"/>
              <a:stretch>
                <a:fillRect/>
              </a:stretch>
            </a:blipFill>
          </p:spPr>
        </p:sp>
        <p:sp>
          <p:nvSpPr>
            <p:cNvPr id="11" name="TextBox 11"/>
            <p:cNvSpPr txBox="1"/>
            <p:nvPr/>
          </p:nvSpPr>
          <p:spPr>
            <a:xfrm>
              <a:off x="6648367" y="10037841"/>
              <a:ext cx="3551713" cy="446340"/>
            </a:xfrm>
            <a:prstGeom prst="rect">
              <a:avLst/>
            </a:prstGeom>
          </p:spPr>
          <p:txBody>
            <a:bodyPr lIns="0" tIns="0" rIns="0" bIns="0" rtlCol="0" anchor="t">
              <a:spAutoFit/>
            </a:bodyPr>
            <a:lstStyle/>
            <a:p>
              <a:pPr algn="ctr">
                <a:lnSpc>
                  <a:spcPts val="2805"/>
                </a:lnSpc>
                <a:spcBef>
                  <a:spcPct val="0"/>
                </a:spcBef>
              </a:pPr>
              <a:r>
                <a:rPr lang="en-US" sz="2003" spc="200">
                  <a:solidFill>
                    <a:srgbClr val="2E3840"/>
                  </a:solidFill>
                  <a:latin typeface="Lato"/>
                  <a:ea typeface="Lato"/>
                  <a:cs typeface="Lato"/>
                  <a:sym typeface="Lato"/>
                </a:rPr>
                <a:t>For VersionControl</a:t>
              </a:r>
            </a:p>
          </p:txBody>
        </p:sp>
        <p:sp>
          <p:nvSpPr>
            <p:cNvPr id="12" name="TextBox 12"/>
            <p:cNvSpPr txBox="1"/>
            <p:nvPr/>
          </p:nvSpPr>
          <p:spPr>
            <a:xfrm>
              <a:off x="7051165" y="4238388"/>
              <a:ext cx="2925181" cy="446340"/>
            </a:xfrm>
            <a:prstGeom prst="rect">
              <a:avLst/>
            </a:prstGeom>
          </p:spPr>
          <p:txBody>
            <a:bodyPr lIns="0" tIns="0" rIns="0" bIns="0" rtlCol="0" anchor="t">
              <a:spAutoFit/>
            </a:bodyPr>
            <a:lstStyle/>
            <a:p>
              <a:pPr algn="ctr">
                <a:lnSpc>
                  <a:spcPts val="2805"/>
                </a:lnSpc>
                <a:spcBef>
                  <a:spcPct val="0"/>
                </a:spcBef>
              </a:pPr>
              <a:r>
                <a:rPr lang="en-US" sz="2003" spc="200">
                  <a:solidFill>
                    <a:srgbClr val="2E3840"/>
                  </a:solidFill>
                  <a:latin typeface="Lato"/>
                  <a:ea typeface="Lato"/>
                  <a:cs typeface="Lato"/>
                  <a:sym typeface="Lato"/>
                </a:rPr>
                <a:t>Cloud Service</a:t>
              </a:r>
            </a:p>
          </p:txBody>
        </p:sp>
      </p:grpSp>
      <p:grpSp>
        <p:nvGrpSpPr>
          <p:cNvPr id="13" name="Group 13"/>
          <p:cNvGrpSpPr/>
          <p:nvPr/>
        </p:nvGrpSpPr>
        <p:grpSpPr>
          <a:xfrm>
            <a:off x="927182" y="1028700"/>
            <a:ext cx="7301549" cy="2277408"/>
            <a:chOff x="0" y="0"/>
            <a:chExt cx="9735399" cy="3036544"/>
          </a:xfrm>
        </p:grpSpPr>
        <p:sp>
          <p:nvSpPr>
            <p:cNvPr id="14" name="Freeform 14"/>
            <p:cNvSpPr/>
            <p:nvPr/>
          </p:nvSpPr>
          <p:spPr>
            <a:xfrm>
              <a:off x="0" y="0"/>
              <a:ext cx="1776016" cy="3036544"/>
            </a:xfrm>
            <a:custGeom>
              <a:avLst/>
              <a:gdLst/>
              <a:ahLst/>
              <a:cxnLst/>
              <a:rect l="l" t="t" r="r" b="b"/>
              <a:pathLst>
                <a:path w="1776016" h="3036544">
                  <a:moveTo>
                    <a:pt x="0" y="0"/>
                  </a:moveTo>
                  <a:lnTo>
                    <a:pt x="1776016" y="0"/>
                  </a:lnTo>
                  <a:lnTo>
                    <a:pt x="1776016" y="3036544"/>
                  </a:lnTo>
                  <a:lnTo>
                    <a:pt x="0" y="30365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2187142" y="612303"/>
              <a:ext cx="7548256" cy="1687577"/>
            </a:xfrm>
            <a:prstGeom prst="rect">
              <a:avLst/>
            </a:prstGeom>
          </p:spPr>
          <p:txBody>
            <a:bodyPr lIns="0" tIns="0" rIns="0" bIns="0" rtlCol="0" anchor="t">
              <a:spAutoFit/>
            </a:bodyPr>
            <a:lstStyle/>
            <a:p>
              <a:pPr algn="l">
                <a:lnSpc>
                  <a:spcPts val="4554"/>
                </a:lnSpc>
              </a:pPr>
              <a:r>
                <a:rPr lang="en-US" sz="4600" b="1">
                  <a:solidFill>
                    <a:srgbClr val="FE6D73"/>
                  </a:solidFill>
                  <a:latin typeface="Kollektif Bold"/>
                  <a:ea typeface="Kollektif Bold"/>
                  <a:cs typeface="Kollektif Bold"/>
                  <a:sym typeface="Kollektif Bold"/>
                </a:rPr>
                <a:t>TOOLS &amp;</a:t>
              </a:r>
            </a:p>
            <a:p>
              <a:pPr algn="l">
                <a:lnSpc>
                  <a:spcPts val="4554"/>
                </a:lnSpc>
              </a:pPr>
              <a:r>
                <a:rPr lang="en-US" sz="4600" b="1">
                  <a:solidFill>
                    <a:srgbClr val="FE6D73"/>
                  </a:solidFill>
                  <a:latin typeface="Kollektif Bold"/>
                  <a:ea typeface="Kollektif Bold"/>
                  <a:cs typeface="Kollektif Bold"/>
                  <a:sym typeface="Kollektif Bold"/>
                </a:rPr>
                <a:t>TECHNOLOGIES</a:t>
              </a:r>
            </a:p>
          </p:txBody>
        </p:sp>
      </p:grpSp>
      <p:grpSp>
        <p:nvGrpSpPr>
          <p:cNvPr id="16" name="Group 16"/>
          <p:cNvGrpSpPr/>
          <p:nvPr/>
        </p:nvGrpSpPr>
        <p:grpSpPr>
          <a:xfrm>
            <a:off x="927182" y="4197751"/>
            <a:ext cx="7504585" cy="4570140"/>
            <a:chOff x="0" y="0"/>
            <a:chExt cx="10006113" cy="6093520"/>
          </a:xfrm>
        </p:grpSpPr>
        <p:grpSp>
          <p:nvGrpSpPr>
            <p:cNvPr id="17" name="Group 17"/>
            <p:cNvGrpSpPr/>
            <p:nvPr/>
          </p:nvGrpSpPr>
          <p:grpSpPr>
            <a:xfrm>
              <a:off x="0" y="266653"/>
              <a:ext cx="10006113" cy="5627509"/>
              <a:chOff x="0" y="0"/>
              <a:chExt cx="1976516" cy="1111607"/>
            </a:xfrm>
          </p:grpSpPr>
          <p:sp>
            <p:nvSpPr>
              <p:cNvPr id="18" name="Freeform 18"/>
              <p:cNvSpPr/>
              <p:nvPr/>
            </p:nvSpPr>
            <p:spPr>
              <a:xfrm>
                <a:off x="0" y="0"/>
                <a:ext cx="1976516" cy="1111607"/>
              </a:xfrm>
              <a:custGeom>
                <a:avLst/>
                <a:gdLst/>
                <a:ahLst/>
                <a:cxnLst/>
                <a:rect l="l" t="t" r="r" b="b"/>
                <a:pathLst>
                  <a:path w="1976516" h="1111607">
                    <a:moveTo>
                      <a:pt x="0" y="0"/>
                    </a:moveTo>
                    <a:lnTo>
                      <a:pt x="1976516" y="0"/>
                    </a:lnTo>
                    <a:lnTo>
                      <a:pt x="1976516" y="1111607"/>
                    </a:lnTo>
                    <a:lnTo>
                      <a:pt x="0" y="1111607"/>
                    </a:lnTo>
                    <a:close/>
                  </a:path>
                </a:pathLst>
              </a:custGeom>
              <a:solidFill>
                <a:srgbClr val="FFFFFF"/>
              </a:solidFill>
            </p:spPr>
          </p:sp>
          <p:sp>
            <p:nvSpPr>
              <p:cNvPr id="19" name="TextBox 19"/>
              <p:cNvSpPr txBox="1"/>
              <p:nvPr/>
            </p:nvSpPr>
            <p:spPr>
              <a:xfrm>
                <a:off x="0" y="19050"/>
                <a:ext cx="1976516" cy="1092557"/>
              </a:xfrm>
              <a:prstGeom prst="rect">
                <a:avLst/>
              </a:prstGeom>
            </p:spPr>
            <p:txBody>
              <a:bodyPr lIns="50800" tIns="50800" rIns="50800" bIns="50800" rtlCol="0" anchor="ctr"/>
              <a:lstStyle/>
              <a:p>
                <a:pPr algn="ctr">
                  <a:lnSpc>
                    <a:spcPts val="2553"/>
                  </a:lnSpc>
                </a:pPr>
                <a:endParaRPr/>
              </a:p>
            </p:txBody>
          </p:sp>
        </p:grpSp>
        <p:sp>
          <p:nvSpPr>
            <p:cNvPr id="20" name="Freeform 20"/>
            <p:cNvSpPr/>
            <p:nvPr/>
          </p:nvSpPr>
          <p:spPr>
            <a:xfrm>
              <a:off x="0" y="0"/>
              <a:ext cx="9648792" cy="5427446"/>
            </a:xfrm>
            <a:custGeom>
              <a:avLst/>
              <a:gdLst/>
              <a:ahLst/>
              <a:cxnLst/>
              <a:rect l="l" t="t" r="r" b="b"/>
              <a:pathLst>
                <a:path w="9648792" h="5427446">
                  <a:moveTo>
                    <a:pt x="0" y="0"/>
                  </a:moveTo>
                  <a:lnTo>
                    <a:pt x="9648792" y="0"/>
                  </a:lnTo>
                  <a:lnTo>
                    <a:pt x="9648792" y="5427446"/>
                  </a:lnTo>
                  <a:lnTo>
                    <a:pt x="0" y="5427446"/>
                  </a:lnTo>
                  <a:lnTo>
                    <a:pt x="0" y="0"/>
                  </a:lnTo>
                  <a:close/>
                </a:path>
              </a:pathLst>
            </a:custGeom>
            <a:blipFill>
              <a:blip r:embed="rId7"/>
              <a:stretch>
                <a:fillRect/>
              </a:stretch>
            </a:blipFill>
            <a:ln w="38100" cap="sq">
              <a:solidFill>
                <a:srgbClr val="000000"/>
              </a:solidFill>
              <a:prstDash val="solid"/>
              <a:miter/>
            </a:ln>
          </p:spPr>
        </p:sp>
        <p:sp>
          <p:nvSpPr>
            <p:cNvPr id="21" name="TextBox 21"/>
            <p:cNvSpPr txBox="1"/>
            <p:nvPr/>
          </p:nvSpPr>
          <p:spPr>
            <a:xfrm>
              <a:off x="3361805" y="5647180"/>
              <a:ext cx="2925181" cy="446340"/>
            </a:xfrm>
            <a:prstGeom prst="rect">
              <a:avLst/>
            </a:prstGeom>
          </p:spPr>
          <p:txBody>
            <a:bodyPr lIns="0" tIns="0" rIns="0" bIns="0" rtlCol="0" anchor="t">
              <a:spAutoFit/>
            </a:bodyPr>
            <a:lstStyle/>
            <a:p>
              <a:pPr algn="ctr">
                <a:lnSpc>
                  <a:spcPts val="2805"/>
                </a:lnSpc>
                <a:spcBef>
                  <a:spcPct val="0"/>
                </a:spcBef>
              </a:pPr>
              <a:r>
                <a:rPr lang="en-US" sz="2003" spc="200">
                  <a:solidFill>
                    <a:srgbClr val="2E3840"/>
                  </a:solidFill>
                  <a:latin typeface="Lato"/>
                  <a:ea typeface="Lato"/>
                  <a:cs typeface="Lato"/>
                  <a:sym typeface="Lato"/>
                </a:rPr>
                <a:t>Primary Stack</a:t>
              </a:r>
            </a:p>
          </p:txBody>
        </p:sp>
      </p:grpSp>
      <p:sp>
        <p:nvSpPr>
          <p:cNvPr id="22" name="Freeform 22"/>
          <p:cNvSpPr/>
          <p:nvPr/>
        </p:nvSpPr>
        <p:spPr>
          <a:xfrm>
            <a:off x="13290186" y="1781596"/>
            <a:ext cx="4122542" cy="2200429"/>
          </a:xfrm>
          <a:custGeom>
            <a:avLst/>
            <a:gdLst/>
            <a:ahLst/>
            <a:cxnLst/>
            <a:rect l="l" t="t" r="r" b="b"/>
            <a:pathLst>
              <a:path w="4122542" h="2200429">
                <a:moveTo>
                  <a:pt x="0" y="0"/>
                </a:moveTo>
                <a:lnTo>
                  <a:pt x="4122542" y="0"/>
                </a:lnTo>
                <a:lnTo>
                  <a:pt x="4122542" y="2200428"/>
                </a:lnTo>
                <a:lnTo>
                  <a:pt x="0" y="2200428"/>
                </a:lnTo>
                <a:lnTo>
                  <a:pt x="0" y="0"/>
                </a:lnTo>
                <a:close/>
              </a:path>
            </a:pathLst>
          </a:custGeom>
          <a:blipFill>
            <a:blip r:embed="rId8"/>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70627" y="7571946"/>
            <a:ext cx="2529531" cy="3372708"/>
            <a:chOff x="0" y="0"/>
            <a:chExt cx="3372708" cy="4496943"/>
          </a:xfrm>
        </p:grpSpPr>
        <p:sp>
          <p:nvSpPr>
            <p:cNvPr id="3" name="Freeform 3"/>
            <p:cNvSpPr/>
            <p:nvPr/>
          </p:nvSpPr>
          <p:spPr>
            <a:xfrm>
              <a:off x="2248472" y="1124236"/>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248472" y="2248472"/>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5400000" flipH="1" flipV="1">
              <a:off x="2248472" y="3372708"/>
              <a:ext cx="1124236" cy="1124236"/>
            </a:xfrm>
            <a:custGeom>
              <a:avLst/>
              <a:gdLst/>
              <a:ahLst/>
              <a:cxnLst/>
              <a:rect l="l" t="t" r="r" b="b"/>
              <a:pathLst>
                <a:path w="1124236" h="1124236">
                  <a:moveTo>
                    <a:pt x="1124236" y="1124235"/>
                  </a:moveTo>
                  <a:lnTo>
                    <a:pt x="0" y="1124235"/>
                  </a:lnTo>
                  <a:lnTo>
                    <a:pt x="0" y="0"/>
                  </a:lnTo>
                  <a:lnTo>
                    <a:pt x="1124236" y="0"/>
                  </a:lnTo>
                  <a:lnTo>
                    <a:pt x="1124236" y="1124235"/>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124236" y="0"/>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124236" y="1124236"/>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rot="5400000">
              <a:off x="0" y="2248472"/>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rot="-10800000">
              <a:off x="1124236" y="3372708"/>
              <a:ext cx="1124236" cy="1124236"/>
            </a:xfrm>
            <a:custGeom>
              <a:avLst/>
              <a:gdLst/>
              <a:ahLst/>
              <a:cxnLst/>
              <a:rect l="l" t="t" r="r" b="b"/>
              <a:pathLst>
                <a:path w="1124236" h="1124236">
                  <a:moveTo>
                    <a:pt x="0" y="0"/>
                  </a:moveTo>
                  <a:lnTo>
                    <a:pt x="1124236" y="0"/>
                  </a:lnTo>
                  <a:lnTo>
                    <a:pt x="1124236" y="1124235"/>
                  </a:lnTo>
                  <a:lnTo>
                    <a:pt x="0" y="11242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800000" flipH="1" flipV="1">
              <a:off x="0" y="3372708"/>
              <a:ext cx="1124236" cy="1124236"/>
            </a:xfrm>
            <a:custGeom>
              <a:avLst/>
              <a:gdLst/>
              <a:ahLst/>
              <a:cxnLst/>
              <a:rect l="l" t="t" r="r" b="b"/>
              <a:pathLst>
                <a:path w="1124236" h="1124236">
                  <a:moveTo>
                    <a:pt x="1124236" y="1124235"/>
                  </a:moveTo>
                  <a:lnTo>
                    <a:pt x="0" y="1124235"/>
                  </a:lnTo>
                  <a:lnTo>
                    <a:pt x="0" y="0"/>
                  </a:lnTo>
                  <a:lnTo>
                    <a:pt x="1124236" y="0"/>
                  </a:lnTo>
                  <a:lnTo>
                    <a:pt x="1124236" y="1124235"/>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11" name="Group 11"/>
          <p:cNvGrpSpPr/>
          <p:nvPr/>
        </p:nvGrpSpPr>
        <p:grpSpPr>
          <a:xfrm>
            <a:off x="2480492" y="687461"/>
            <a:ext cx="8434361" cy="1668657"/>
            <a:chOff x="0" y="0"/>
            <a:chExt cx="11245814" cy="2224876"/>
          </a:xfrm>
        </p:grpSpPr>
        <p:sp>
          <p:nvSpPr>
            <p:cNvPr id="12" name="Freeform 12"/>
            <p:cNvSpPr/>
            <p:nvPr/>
          </p:nvSpPr>
          <p:spPr>
            <a:xfrm>
              <a:off x="0" y="0"/>
              <a:ext cx="2224876" cy="2224876"/>
            </a:xfrm>
            <a:custGeom>
              <a:avLst/>
              <a:gdLst/>
              <a:ahLst/>
              <a:cxnLst/>
              <a:rect l="l" t="t" r="r" b="b"/>
              <a:pathLst>
                <a:path w="2224876" h="2224876">
                  <a:moveTo>
                    <a:pt x="0" y="0"/>
                  </a:moveTo>
                  <a:lnTo>
                    <a:pt x="2224876" y="0"/>
                  </a:lnTo>
                  <a:lnTo>
                    <a:pt x="2224876" y="2224876"/>
                  </a:lnTo>
                  <a:lnTo>
                    <a:pt x="0" y="222487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TextBox 13"/>
            <p:cNvSpPr txBox="1"/>
            <p:nvPr/>
          </p:nvSpPr>
          <p:spPr>
            <a:xfrm>
              <a:off x="1112438" y="549338"/>
              <a:ext cx="10133376" cy="1126200"/>
            </a:xfrm>
            <a:prstGeom prst="rect">
              <a:avLst/>
            </a:prstGeom>
          </p:spPr>
          <p:txBody>
            <a:bodyPr lIns="0" tIns="0" rIns="0" bIns="0" rtlCol="0" anchor="t">
              <a:spAutoFit/>
            </a:bodyPr>
            <a:lstStyle/>
            <a:p>
              <a:pPr algn="ctr">
                <a:lnSpc>
                  <a:spcPts val="5544"/>
                </a:lnSpc>
              </a:pPr>
              <a:r>
                <a:rPr lang="en-US" sz="5600" b="1">
                  <a:solidFill>
                    <a:srgbClr val="227C9D"/>
                  </a:solidFill>
                  <a:latin typeface="Kollektif Bold"/>
                  <a:ea typeface="Kollektif Bold"/>
                  <a:cs typeface="Kollektif Bold"/>
                  <a:sym typeface="Kollektif Bold"/>
                </a:rPr>
                <a:t>PROJECT SCOPE</a:t>
              </a:r>
            </a:p>
          </p:txBody>
        </p:sp>
      </p:grpSp>
      <p:sp>
        <p:nvSpPr>
          <p:cNvPr id="14" name="TextBox 14"/>
          <p:cNvSpPr txBox="1"/>
          <p:nvPr/>
        </p:nvSpPr>
        <p:spPr>
          <a:xfrm>
            <a:off x="2480492" y="3478237"/>
            <a:ext cx="8982626" cy="4332732"/>
          </a:xfrm>
          <a:prstGeom prst="rect">
            <a:avLst/>
          </a:prstGeom>
        </p:spPr>
        <p:txBody>
          <a:bodyPr lIns="0" tIns="0" rIns="0" bIns="0" rtlCol="0" anchor="t">
            <a:spAutoFit/>
          </a:bodyPr>
          <a:lstStyle/>
          <a:p>
            <a:pPr algn="l">
              <a:lnSpc>
                <a:spcPts val="2664"/>
              </a:lnSpc>
              <a:spcBef>
                <a:spcPct val="0"/>
              </a:spcBef>
            </a:pPr>
            <a:r>
              <a:rPr lang="en-US" sz="2400" dirty="0">
                <a:solidFill>
                  <a:srgbClr val="545454"/>
                </a:solidFill>
                <a:latin typeface="Canva Sans"/>
                <a:ea typeface="Canva Sans"/>
                <a:cs typeface="Canva Sans"/>
                <a:sym typeface="Canva Sans"/>
              </a:rPr>
              <a:t>The scope of this project is to digitize coaching class management, improving efficiency and reducing manual work. It offers a secure system for authentication, course enrollment, inquiry management, fee processing, attendance tracking, notifications, timetable management, study materials, and quizzes, with role-based access allowing only authorized users to sign up via admin-generated links. Key processes like inquiries, fee tracking, attendance, and progress monitoring are automated. The system enhances the educational experience by providing students with easy access to learning resources and giving parents regular updates on their child’s progress, strengthening communication and engagement.</a:t>
            </a:r>
          </a:p>
        </p:txBody>
      </p:sp>
      <p:grpSp>
        <p:nvGrpSpPr>
          <p:cNvPr id="15" name="Group 15"/>
          <p:cNvGrpSpPr/>
          <p:nvPr/>
        </p:nvGrpSpPr>
        <p:grpSpPr>
          <a:xfrm>
            <a:off x="-2376018" y="8904605"/>
            <a:ext cx="5452282" cy="5412564"/>
            <a:chOff x="0" y="0"/>
            <a:chExt cx="7269710" cy="7216752"/>
          </a:xfrm>
        </p:grpSpPr>
        <p:sp>
          <p:nvSpPr>
            <p:cNvPr id="16" name="AutoShape 16"/>
            <p:cNvSpPr/>
            <p:nvPr/>
          </p:nvSpPr>
          <p:spPr>
            <a:xfrm>
              <a:off x="964809" y="12323"/>
              <a:ext cx="6292702" cy="6228971"/>
            </a:xfrm>
            <a:prstGeom prst="line">
              <a:avLst/>
            </a:prstGeom>
            <a:ln w="34678" cap="flat">
              <a:solidFill>
                <a:srgbClr val="8CA9AD"/>
              </a:solidFill>
              <a:prstDash val="solid"/>
              <a:headEnd type="none" w="sm" len="sm"/>
              <a:tailEnd type="none" w="sm" len="sm"/>
            </a:ln>
          </p:spPr>
        </p:sp>
        <p:sp>
          <p:nvSpPr>
            <p:cNvPr id="17" name="AutoShape 17"/>
            <p:cNvSpPr/>
            <p:nvPr/>
          </p:nvSpPr>
          <p:spPr>
            <a:xfrm>
              <a:off x="705167" y="391783"/>
              <a:ext cx="6115078" cy="6115078"/>
            </a:xfrm>
            <a:prstGeom prst="line">
              <a:avLst/>
            </a:prstGeom>
            <a:ln w="34678" cap="flat">
              <a:solidFill>
                <a:srgbClr val="8CA9AD"/>
              </a:solidFill>
              <a:prstDash val="solid"/>
              <a:headEnd type="none" w="sm" len="sm"/>
              <a:tailEnd type="none" w="sm" len="sm"/>
            </a:ln>
          </p:spPr>
        </p:sp>
        <p:sp>
          <p:nvSpPr>
            <p:cNvPr id="18" name="AutoShape 18"/>
            <p:cNvSpPr/>
            <p:nvPr/>
          </p:nvSpPr>
          <p:spPr>
            <a:xfrm>
              <a:off x="487205" y="826817"/>
              <a:ext cx="5906691" cy="5906691"/>
            </a:xfrm>
            <a:prstGeom prst="line">
              <a:avLst/>
            </a:prstGeom>
            <a:ln w="34678" cap="flat">
              <a:solidFill>
                <a:srgbClr val="8CA9AD"/>
              </a:solidFill>
              <a:prstDash val="solid"/>
              <a:headEnd type="none" w="sm" len="sm"/>
              <a:tailEnd type="none" w="sm" len="sm"/>
            </a:ln>
          </p:spPr>
        </p:sp>
        <p:sp>
          <p:nvSpPr>
            <p:cNvPr id="19" name="AutoShape 19"/>
            <p:cNvSpPr/>
            <p:nvPr/>
          </p:nvSpPr>
          <p:spPr>
            <a:xfrm>
              <a:off x="333499" y="1295585"/>
              <a:ext cx="5692340" cy="5692340"/>
            </a:xfrm>
            <a:prstGeom prst="line">
              <a:avLst/>
            </a:prstGeom>
            <a:ln w="34678" cap="flat">
              <a:solidFill>
                <a:srgbClr val="8CA9AD"/>
              </a:solidFill>
              <a:prstDash val="solid"/>
              <a:headEnd type="none" w="sm" len="sm"/>
              <a:tailEnd type="none" w="sm" len="sm"/>
            </a:ln>
          </p:spPr>
        </p:sp>
        <p:sp>
          <p:nvSpPr>
            <p:cNvPr id="20" name="AutoShape 20"/>
            <p:cNvSpPr/>
            <p:nvPr/>
          </p:nvSpPr>
          <p:spPr>
            <a:xfrm>
              <a:off x="158920" y="1829170"/>
              <a:ext cx="5276273" cy="5276273"/>
            </a:xfrm>
            <a:prstGeom prst="line">
              <a:avLst/>
            </a:prstGeom>
            <a:ln w="34678" cap="flat">
              <a:solidFill>
                <a:srgbClr val="8CA9AD"/>
              </a:solidFill>
              <a:prstDash val="solid"/>
              <a:headEnd type="none" w="sm" len="sm"/>
              <a:tailEnd type="none" w="sm" len="sm"/>
            </a:ln>
          </p:spPr>
        </p:sp>
        <p:sp>
          <p:nvSpPr>
            <p:cNvPr id="21" name="AutoShape 21"/>
            <p:cNvSpPr/>
            <p:nvPr/>
          </p:nvSpPr>
          <p:spPr>
            <a:xfrm>
              <a:off x="12294" y="2367667"/>
              <a:ext cx="4810165" cy="4836858"/>
            </a:xfrm>
            <a:prstGeom prst="line">
              <a:avLst/>
            </a:prstGeom>
            <a:ln w="34678" cap="flat">
              <a:solidFill>
                <a:srgbClr val="8CA9AD"/>
              </a:solidFill>
              <a:prstDash val="solid"/>
              <a:headEnd type="none" w="sm" len="sm"/>
              <a:tailEnd type="none" w="sm" len="sm"/>
            </a:ln>
          </p:spPr>
        </p:sp>
      </p:grpSp>
      <p:sp>
        <p:nvSpPr>
          <p:cNvPr id="22" name="Freeform 22"/>
          <p:cNvSpPr/>
          <p:nvPr/>
        </p:nvSpPr>
        <p:spPr>
          <a:xfrm>
            <a:off x="12286909" y="3449662"/>
            <a:ext cx="4369981" cy="4114800"/>
          </a:xfrm>
          <a:custGeom>
            <a:avLst/>
            <a:gdLst/>
            <a:ahLst/>
            <a:cxnLst/>
            <a:rect l="l" t="t" r="r" b="b"/>
            <a:pathLst>
              <a:path w="4369981" h="4114800">
                <a:moveTo>
                  <a:pt x="0" y="0"/>
                </a:moveTo>
                <a:lnTo>
                  <a:pt x="4369981" y="0"/>
                </a:lnTo>
                <a:lnTo>
                  <a:pt x="436998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23" name="Group 23"/>
          <p:cNvGrpSpPr/>
          <p:nvPr/>
        </p:nvGrpSpPr>
        <p:grpSpPr>
          <a:xfrm>
            <a:off x="15758469" y="-1016589"/>
            <a:ext cx="2529531" cy="3372708"/>
            <a:chOff x="0" y="0"/>
            <a:chExt cx="3372708" cy="4496943"/>
          </a:xfrm>
        </p:grpSpPr>
        <p:sp>
          <p:nvSpPr>
            <p:cNvPr id="24" name="Freeform 24"/>
            <p:cNvSpPr/>
            <p:nvPr/>
          </p:nvSpPr>
          <p:spPr>
            <a:xfrm>
              <a:off x="2248472" y="1124236"/>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a:off x="2248472" y="2248472"/>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rot="5400000" flipH="1" flipV="1">
              <a:off x="2248472" y="3372708"/>
              <a:ext cx="1124236" cy="1124236"/>
            </a:xfrm>
            <a:custGeom>
              <a:avLst/>
              <a:gdLst/>
              <a:ahLst/>
              <a:cxnLst/>
              <a:rect l="l" t="t" r="r" b="b"/>
              <a:pathLst>
                <a:path w="1124236" h="1124236">
                  <a:moveTo>
                    <a:pt x="1124236" y="1124235"/>
                  </a:moveTo>
                  <a:lnTo>
                    <a:pt x="0" y="1124235"/>
                  </a:lnTo>
                  <a:lnTo>
                    <a:pt x="0" y="0"/>
                  </a:lnTo>
                  <a:lnTo>
                    <a:pt x="1124236" y="0"/>
                  </a:lnTo>
                  <a:lnTo>
                    <a:pt x="1124236" y="1124235"/>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7" name="Freeform 27"/>
            <p:cNvSpPr/>
            <p:nvPr/>
          </p:nvSpPr>
          <p:spPr>
            <a:xfrm>
              <a:off x="1124236" y="0"/>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p:cNvSpPr/>
            <p:nvPr/>
          </p:nvSpPr>
          <p:spPr>
            <a:xfrm>
              <a:off x="1124236" y="1124236"/>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9" name="Freeform 29"/>
            <p:cNvSpPr/>
            <p:nvPr/>
          </p:nvSpPr>
          <p:spPr>
            <a:xfrm rot="5400000">
              <a:off x="0" y="2248472"/>
              <a:ext cx="1124236" cy="1124236"/>
            </a:xfrm>
            <a:custGeom>
              <a:avLst/>
              <a:gdLst/>
              <a:ahLst/>
              <a:cxnLst/>
              <a:rect l="l" t="t" r="r" b="b"/>
              <a:pathLst>
                <a:path w="1124236" h="1124236">
                  <a:moveTo>
                    <a:pt x="0" y="0"/>
                  </a:moveTo>
                  <a:lnTo>
                    <a:pt x="1124236" y="0"/>
                  </a:lnTo>
                  <a:lnTo>
                    <a:pt x="1124236" y="1124236"/>
                  </a:lnTo>
                  <a:lnTo>
                    <a:pt x="0" y="112423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Freeform 30"/>
            <p:cNvSpPr/>
            <p:nvPr/>
          </p:nvSpPr>
          <p:spPr>
            <a:xfrm rot="-10800000">
              <a:off x="1124236" y="3372708"/>
              <a:ext cx="1124236" cy="1124236"/>
            </a:xfrm>
            <a:custGeom>
              <a:avLst/>
              <a:gdLst/>
              <a:ahLst/>
              <a:cxnLst/>
              <a:rect l="l" t="t" r="r" b="b"/>
              <a:pathLst>
                <a:path w="1124236" h="1124236">
                  <a:moveTo>
                    <a:pt x="0" y="0"/>
                  </a:moveTo>
                  <a:lnTo>
                    <a:pt x="1124236" y="0"/>
                  </a:lnTo>
                  <a:lnTo>
                    <a:pt x="1124236" y="1124235"/>
                  </a:lnTo>
                  <a:lnTo>
                    <a:pt x="0" y="11242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1" name="Freeform 31"/>
            <p:cNvSpPr/>
            <p:nvPr/>
          </p:nvSpPr>
          <p:spPr>
            <a:xfrm rot="-10800000" flipH="1" flipV="1">
              <a:off x="0" y="3372708"/>
              <a:ext cx="1124236" cy="1124236"/>
            </a:xfrm>
            <a:custGeom>
              <a:avLst/>
              <a:gdLst/>
              <a:ahLst/>
              <a:cxnLst/>
              <a:rect l="l" t="t" r="r" b="b"/>
              <a:pathLst>
                <a:path w="1124236" h="1124236">
                  <a:moveTo>
                    <a:pt x="1124236" y="1124235"/>
                  </a:moveTo>
                  <a:lnTo>
                    <a:pt x="0" y="1124235"/>
                  </a:lnTo>
                  <a:lnTo>
                    <a:pt x="0" y="0"/>
                  </a:lnTo>
                  <a:lnTo>
                    <a:pt x="1124236" y="0"/>
                  </a:lnTo>
                  <a:lnTo>
                    <a:pt x="1124236" y="1124235"/>
                  </a:lnTo>
                  <a:close/>
                </a:path>
              </a:pathLst>
            </a:custGeom>
            <a:blipFill>
              <a:blip r:embed="rId4">
                <a:extLst>
                  <a:ext uri="{96DAC541-7B7A-43D3-8B79-37D633B846F1}">
                    <asvg:svgBlip xmlns:asvg="http://schemas.microsoft.com/office/drawing/2016/SVG/main" r:embed="rId5"/>
                  </a:ext>
                </a:extLst>
              </a:blip>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475884"/>
            <a:ext cx="1105633" cy="1105633"/>
          </a:xfrm>
          <a:custGeom>
            <a:avLst/>
            <a:gdLst/>
            <a:ahLst/>
            <a:cxnLst/>
            <a:rect l="l" t="t" r="r" b="b"/>
            <a:pathLst>
              <a:path w="1105633" h="1105633">
                <a:moveTo>
                  <a:pt x="0" y="0"/>
                </a:moveTo>
                <a:lnTo>
                  <a:pt x="1105633" y="0"/>
                </a:lnTo>
                <a:lnTo>
                  <a:pt x="1105633" y="1105632"/>
                </a:lnTo>
                <a:lnTo>
                  <a:pt x="0" y="11056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225797" y="2977424"/>
            <a:ext cx="4365431" cy="6582528"/>
            <a:chOff x="0" y="0"/>
            <a:chExt cx="1149743" cy="1733670"/>
          </a:xfrm>
        </p:grpSpPr>
        <p:sp>
          <p:nvSpPr>
            <p:cNvPr id="4" name="Freeform 4"/>
            <p:cNvSpPr/>
            <p:nvPr/>
          </p:nvSpPr>
          <p:spPr>
            <a:xfrm>
              <a:off x="0" y="0"/>
              <a:ext cx="1149743" cy="1733670"/>
            </a:xfrm>
            <a:custGeom>
              <a:avLst/>
              <a:gdLst/>
              <a:ahLst/>
              <a:cxnLst/>
              <a:rect l="l" t="t" r="r" b="b"/>
              <a:pathLst>
                <a:path w="1149743" h="1733670">
                  <a:moveTo>
                    <a:pt x="0" y="0"/>
                  </a:moveTo>
                  <a:lnTo>
                    <a:pt x="1149743" y="0"/>
                  </a:lnTo>
                  <a:lnTo>
                    <a:pt x="1149743" y="1733670"/>
                  </a:lnTo>
                  <a:lnTo>
                    <a:pt x="0" y="1733670"/>
                  </a:lnTo>
                  <a:close/>
                </a:path>
              </a:pathLst>
            </a:custGeom>
            <a:solidFill>
              <a:srgbClr val="F2E982"/>
            </a:solidFill>
          </p:spPr>
        </p:sp>
        <p:sp>
          <p:nvSpPr>
            <p:cNvPr id="5" name="TextBox 5"/>
            <p:cNvSpPr txBox="1"/>
            <p:nvPr/>
          </p:nvSpPr>
          <p:spPr>
            <a:xfrm>
              <a:off x="0" y="19050"/>
              <a:ext cx="1149743" cy="1714620"/>
            </a:xfrm>
            <a:prstGeom prst="rect">
              <a:avLst/>
            </a:prstGeom>
          </p:spPr>
          <p:txBody>
            <a:bodyPr lIns="50800" tIns="50800" rIns="50800" bIns="50800" rtlCol="0" anchor="ctr"/>
            <a:lstStyle/>
            <a:p>
              <a:pPr algn="ctr">
                <a:lnSpc>
                  <a:spcPts val="2553"/>
                </a:lnSpc>
              </a:pPr>
              <a:endParaRPr/>
            </a:p>
          </p:txBody>
        </p:sp>
      </p:grpSp>
      <p:sp>
        <p:nvSpPr>
          <p:cNvPr id="6" name="TextBox 6"/>
          <p:cNvSpPr txBox="1"/>
          <p:nvPr/>
        </p:nvSpPr>
        <p:spPr>
          <a:xfrm>
            <a:off x="1825652" y="3294868"/>
            <a:ext cx="3345158" cy="905454"/>
          </a:xfrm>
          <a:prstGeom prst="rect">
            <a:avLst/>
          </a:prstGeom>
        </p:spPr>
        <p:txBody>
          <a:bodyPr lIns="0" tIns="0" rIns="0" bIns="0" rtlCol="0" anchor="t">
            <a:spAutoFit/>
          </a:bodyPr>
          <a:lstStyle/>
          <a:p>
            <a:pPr algn="ctr">
              <a:lnSpc>
                <a:spcPts val="3640"/>
              </a:lnSpc>
            </a:pPr>
            <a:r>
              <a:rPr lang="en-US" sz="2600" b="1">
                <a:solidFill>
                  <a:srgbClr val="000000"/>
                </a:solidFill>
                <a:latin typeface="Canva Sans Bold"/>
                <a:ea typeface="Canva Sans Bold"/>
                <a:cs typeface="Canva Sans Bold"/>
                <a:sym typeface="Canva Sans Bold"/>
              </a:rPr>
              <a:t>User Authentication &amp; Management</a:t>
            </a:r>
          </a:p>
        </p:txBody>
      </p:sp>
      <p:sp>
        <p:nvSpPr>
          <p:cNvPr id="7" name="TextBox 7"/>
          <p:cNvSpPr txBox="1"/>
          <p:nvPr/>
        </p:nvSpPr>
        <p:spPr>
          <a:xfrm>
            <a:off x="1550966" y="4895850"/>
            <a:ext cx="3715094" cy="4138503"/>
          </a:xfrm>
          <a:prstGeom prst="rect">
            <a:avLst/>
          </a:prstGeom>
        </p:spPr>
        <p:txBody>
          <a:bodyPr lIns="0" tIns="0" rIns="0" bIns="0" rtlCol="0" anchor="t">
            <a:spAutoFit/>
          </a:bodyPr>
          <a:lstStyle/>
          <a:p>
            <a:pPr marL="582933" lvl="1" indent="-291467" algn="l">
              <a:lnSpc>
                <a:spcPts val="4725"/>
              </a:lnSpc>
              <a:buFont typeface="Arial"/>
              <a:buChar char="•"/>
            </a:pPr>
            <a:r>
              <a:rPr lang="en-US" sz="2700">
                <a:solidFill>
                  <a:srgbClr val="000000"/>
                </a:solidFill>
                <a:latin typeface="Canva Sans"/>
                <a:ea typeface="Canva Sans"/>
                <a:cs typeface="Canva Sans"/>
                <a:sym typeface="Canva Sans"/>
              </a:rPr>
              <a:t>User registration and login</a:t>
            </a:r>
          </a:p>
          <a:p>
            <a:pPr marL="604523" lvl="1" indent="-302261" algn="l">
              <a:lnSpc>
                <a:spcPts val="4900"/>
              </a:lnSpc>
              <a:buFont typeface="Arial"/>
              <a:buChar char="•"/>
            </a:pPr>
            <a:r>
              <a:rPr lang="en-US" sz="2800">
                <a:solidFill>
                  <a:srgbClr val="000000"/>
                </a:solidFill>
                <a:latin typeface="Canva Sans"/>
                <a:ea typeface="Canva Sans"/>
                <a:cs typeface="Canva Sans"/>
                <a:sym typeface="Canva Sans"/>
              </a:rPr>
              <a:t>Profile management</a:t>
            </a:r>
          </a:p>
          <a:p>
            <a:pPr marL="582933" lvl="1" indent="-291467" algn="l">
              <a:lnSpc>
                <a:spcPts val="4725"/>
              </a:lnSpc>
              <a:buFont typeface="Arial"/>
              <a:buChar char="•"/>
            </a:pPr>
            <a:r>
              <a:rPr lang="en-US" sz="2700">
                <a:solidFill>
                  <a:srgbClr val="000000"/>
                </a:solidFill>
                <a:latin typeface="Canva Sans"/>
                <a:ea typeface="Canva Sans"/>
                <a:cs typeface="Canva Sans"/>
                <a:sym typeface="Canva Sans"/>
              </a:rPr>
              <a:t>Account recovery (password reset).</a:t>
            </a:r>
          </a:p>
          <a:p>
            <a:pPr algn="l">
              <a:lnSpc>
                <a:spcPts val="3780"/>
              </a:lnSpc>
            </a:pPr>
            <a:endParaRPr lang="en-US" sz="2700">
              <a:solidFill>
                <a:srgbClr val="000000"/>
              </a:solidFill>
              <a:latin typeface="Canva Sans"/>
              <a:ea typeface="Canva Sans"/>
              <a:cs typeface="Canva Sans"/>
              <a:sym typeface="Canva Sans"/>
            </a:endParaRPr>
          </a:p>
        </p:txBody>
      </p:sp>
      <p:grpSp>
        <p:nvGrpSpPr>
          <p:cNvPr id="8" name="Group 8"/>
          <p:cNvGrpSpPr/>
          <p:nvPr/>
        </p:nvGrpSpPr>
        <p:grpSpPr>
          <a:xfrm>
            <a:off x="6746787" y="2977424"/>
            <a:ext cx="4365431" cy="6582528"/>
            <a:chOff x="0" y="0"/>
            <a:chExt cx="1149743" cy="1733670"/>
          </a:xfrm>
        </p:grpSpPr>
        <p:sp>
          <p:nvSpPr>
            <p:cNvPr id="9" name="Freeform 9"/>
            <p:cNvSpPr/>
            <p:nvPr/>
          </p:nvSpPr>
          <p:spPr>
            <a:xfrm>
              <a:off x="0" y="0"/>
              <a:ext cx="1149743" cy="1733670"/>
            </a:xfrm>
            <a:custGeom>
              <a:avLst/>
              <a:gdLst/>
              <a:ahLst/>
              <a:cxnLst/>
              <a:rect l="l" t="t" r="r" b="b"/>
              <a:pathLst>
                <a:path w="1149743" h="1733670">
                  <a:moveTo>
                    <a:pt x="0" y="0"/>
                  </a:moveTo>
                  <a:lnTo>
                    <a:pt x="1149743" y="0"/>
                  </a:lnTo>
                  <a:lnTo>
                    <a:pt x="1149743" y="1733670"/>
                  </a:lnTo>
                  <a:lnTo>
                    <a:pt x="0" y="1733670"/>
                  </a:lnTo>
                  <a:close/>
                </a:path>
              </a:pathLst>
            </a:custGeom>
            <a:solidFill>
              <a:srgbClr val="F2E982"/>
            </a:solidFill>
          </p:spPr>
        </p:sp>
        <p:sp>
          <p:nvSpPr>
            <p:cNvPr id="10" name="TextBox 10"/>
            <p:cNvSpPr txBox="1"/>
            <p:nvPr/>
          </p:nvSpPr>
          <p:spPr>
            <a:xfrm>
              <a:off x="0" y="19050"/>
              <a:ext cx="1149743" cy="1714620"/>
            </a:xfrm>
            <a:prstGeom prst="rect">
              <a:avLst/>
            </a:prstGeom>
          </p:spPr>
          <p:txBody>
            <a:bodyPr lIns="50800" tIns="50800" rIns="50800" bIns="50800" rtlCol="0" anchor="ctr"/>
            <a:lstStyle/>
            <a:p>
              <a:pPr algn="ctr">
                <a:lnSpc>
                  <a:spcPts val="2553"/>
                </a:lnSpc>
              </a:pPr>
              <a:endParaRPr/>
            </a:p>
          </p:txBody>
        </p:sp>
      </p:grpSp>
      <p:sp>
        <p:nvSpPr>
          <p:cNvPr id="11" name="TextBox 11"/>
          <p:cNvSpPr txBox="1"/>
          <p:nvPr/>
        </p:nvSpPr>
        <p:spPr>
          <a:xfrm>
            <a:off x="7166186" y="3282876"/>
            <a:ext cx="3742403" cy="905456"/>
          </a:xfrm>
          <a:prstGeom prst="rect">
            <a:avLst/>
          </a:prstGeom>
        </p:spPr>
        <p:txBody>
          <a:bodyPr lIns="0" tIns="0" rIns="0" bIns="0" rtlCol="0" anchor="t">
            <a:spAutoFit/>
          </a:bodyPr>
          <a:lstStyle/>
          <a:p>
            <a:pPr algn="ctr">
              <a:lnSpc>
                <a:spcPts val="3640"/>
              </a:lnSpc>
            </a:pPr>
            <a:r>
              <a:rPr lang="en-US" sz="2600" b="1">
                <a:solidFill>
                  <a:srgbClr val="000000"/>
                </a:solidFill>
                <a:latin typeface="Canva Sans Bold"/>
                <a:ea typeface="Canva Sans Bold"/>
                <a:cs typeface="Canva Sans Bold"/>
                <a:sym typeface="Canva Sans Bold"/>
              </a:rPr>
              <a:t>Course Management </a:t>
            </a:r>
          </a:p>
          <a:p>
            <a:pPr algn="ctr">
              <a:lnSpc>
                <a:spcPts val="3640"/>
              </a:lnSpc>
            </a:pPr>
            <a:endParaRPr lang="en-US" sz="2600" b="1">
              <a:solidFill>
                <a:srgbClr val="000000"/>
              </a:solidFill>
              <a:latin typeface="Canva Sans Bold"/>
              <a:ea typeface="Canva Sans Bold"/>
              <a:cs typeface="Canva Sans Bold"/>
              <a:sym typeface="Canva Sans Bold"/>
            </a:endParaRPr>
          </a:p>
        </p:txBody>
      </p:sp>
      <p:sp>
        <p:nvSpPr>
          <p:cNvPr id="12" name="TextBox 12"/>
          <p:cNvSpPr txBox="1"/>
          <p:nvPr/>
        </p:nvSpPr>
        <p:spPr>
          <a:xfrm>
            <a:off x="6775229" y="5000625"/>
            <a:ext cx="4133360" cy="2423795"/>
          </a:xfrm>
          <a:prstGeom prst="rect">
            <a:avLst/>
          </a:prstGeom>
        </p:spPr>
        <p:txBody>
          <a:bodyPr lIns="0" tIns="0" rIns="0" bIns="0" rtlCol="0" anchor="t">
            <a:spAutoFit/>
          </a:bodyPr>
          <a:lstStyle/>
          <a:p>
            <a:pPr marL="604519" lvl="1" indent="-302260" algn="l">
              <a:lnSpc>
                <a:spcPts val="4899"/>
              </a:lnSpc>
              <a:buFont typeface="Arial"/>
              <a:buChar char="•"/>
            </a:pPr>
            <a:r>
              <a:rPr lang="en-US" sz="2799">
                <a:solidFill>
                  <a:srgbClr val="000000"/>
                </a:solidFill>
                <a:latin typeface="Canva Sans"/>
                <a:ea typeface="Canva Sans"/>
                <a:cs typeface="Canva Sans"/>
                <a:sym typeface="Canva Sans"/>
              </a:rPr>
              <a:t>CRUD operations for courses .</a:t>
            </a:r>
          </a:p>
          <a:p>
            <a:pPr marL="604519" lvl="1" indent="-302260" algn="l">
              <a:lnSpc>
                <a:spcPts val="4899"/>
              </a:lnSpc>
              <a:buFont typeface="Arial"/>
              <a:buChar char="•"/>
            </a:pPr>
            <a:r>
              <a:rPr lang="en-US" sz="2799">
                <a:solidFill>
                  <a:srgbClr val="000000"/>
                </a:solidFill>
                <a:latin typeface="Canva Sans"/>
                <a:ea typeface="Canva Sans"/>
                <a:cs typeface="Canva Sans"/>
                <a:sym typeface="Canva Sans"/>
              </a:rPr>
              <a:t>Course listing</a:t>
            </a:r>
          </a:p>
          <a:p>
            <a:pPr algn="l">
              <a:lnSpc>
                <a:spcPts val="4899"/>
              </a:lnSpc>
            </a:pPr>
            <a:endParaRPr lang="en-US" sz="2799">
              <a:solidFill>
                <a:srgbClr val="000000"/>
              </a:solidFill>
              <a:latin typeface="Canva Sans"/>
              <a:ea typeface="Canva Sans"/>
              <a:cs typeface="Canva Sans"/>
              <a:sym typeface="Canva Sans"/>
            </a:endParaRPr>
          </a:p>
        </p:txBody>
      </p:sp>
      <p:grpSp>
        <p:nvGrpSpPr>
          <p:cNvPr id="13" name="Group 13"/>
          <p:cNvGrpSpPr/>
          <p:nvPr/>
        </p:nvGrpSpPr>
        <p:grpSpPr>
          <a:xfrm>
            <a:off x="12267776" y="2942880"/>
            <a:ext cx="4991488" cy="6617072"/>
            <a:chOff x="0" y="0"/>
            <a:chExt cx="1314630" cy="1742768"/>
          </a:xfrm>
        </p:grpSpPr>
        <p:sp>
          <p:nvSpPr>
            <p:cNvPr id="14" name="Freeform 14"/>
            <p:cNvSpPr/>
            <p:nvPr/>
          </p:nvSpPr>
          <p:spPr>
            <a:xfrm>
              <a:off x="0" y="0"/>
              <a:ext cx="1314631" cy="1742768"/>
            </a:xfrm>
            <a:custGeom>
              <a:avLst/>
              <a:gdLst/>
              <a:ahLst/>
              <a:cxnLst/>
              <a:rect l="l" t="t" r="r" b="b"/>
              <a:pathLst>
                <a:path w="1314631" h="1742768">
                  <a:moveTo>
                    <a:pt x="0" y="0"/>
                  </a:moveTo>
                  <a:lnTo>
                    <a:pt x="1314631" y="0"/>
                  </a:lnTo>
                  <a:lnTo>
                    <a:pt x="1314631" y="1742768"/>
                  </a:lnTo>
                  <a:lnTo>
                    <a:pt x="0" y="1742768"/>
                  </a:lnTo>
                  <a:close/>
                </a:path>
              </a:pathLst>
            </a:custGeom>
            <a:solidFill>
              <a:srgbClr val="F2E982"/>
            </a:solidFill>
          </p:spPr>
        </p:sp>
        <p:sp>
          <p:nvSpPr>
            <p:cNvPr id="15" name="TextBox 15"/>
            <p:cNvSpPr txBox="1"/>
            <p:nvPr/>
          </p:nvSpPr>
          <p:spPr>
            <a:xfrm>
              <a:off x="0" y="19050"/>
              <a:ext cx="1314630" cy="1723718"/>
            </a:xfrm>
            <a:prstGeom prst="rect">
              <a:avLst/>
            </a:prstGeom>
          </p:spPr>
          <p:txBody>
            <a:bodyPr lIns="50800" tIns="50800" rIns="50800" bIns="50800" rtlCol="0" anchor="ctr"/>
            <a:lstStyle/>
            <a:p>
              <a:pPr algn="ctr">
                <a:lnSpc>
                  <a:spcPts val="2553"/>
                </a:lnSpc>
              </a:pPr>
              <a:endParaRPr/>
            </a:p>
          </p:txBody>
        </p:sp>
      </p:grpSp>
      <p:sp>
        <p:nvSpPr>
          <p:cNvPr id="16" name="TextBox 16"/>
          <p:cNvSpPr txBox="1"/>
          <p:nvPr/>
        </p:nvSpPr>
        <p:spPr>
          <a:xfrm>
            <a:off x="2381047" y="776594"/>
            <a:ext cx="4281950" cy="957323"/>
          </a:xfrm>
          <a:prstGeom prst="rect">
            <a:avLst/>
          </a:prstGeom>
        </p:spPr>
        <p:txBody>
          <a:bodyPr lIns="0" tIns="0" rIns="0" bIns="0" rtlCol="0" anchor="t">
            <a:spAutoFit/>
          </a:bodyPr>
          <a:lstStyle/>
          <a:p>
            <a:pPr algn="l">
              <a:lnSpc>
                <a:spcPts val="3444"/>
              </a:lnSpc>
            </a:pPr>
            <a:r>
              <a:rPr lang="en-US" sz="3479" b="1">
                <a:solidFill>
                  <a:srgbClr val="FE6D73"/>
                </a:solidFill>
                <a:latin typeface="Kollektif Bold"/>
                <a:ea typeface="Kollektif Bold"/>
                <a:cs typeface="Kollektif Bold"/>
                <a:sym typeface="Kollektif Bold"/>
              </a:rPr>
              <a:t>WORK MODULES</a:t>
            </a:r>
          </a:p>
          <a:p>
            <a:pPr algn="l">
              <a:lnSpc>
                <a:spcPts val="3444"/>
              </a:lnSpc>
            </a:pPr>
            <a:endParaRPr lang="en-US" sz="3479" b="1">
              <a:solidFill>
                <a:srgbClr val="FE6D73"/>
              </a:solidFill>
              <a:latin typeface="Kollektif Bold"/>
              <a:ea typeface="Kollektif Bold"/>
              <a:cs typeface="Kollektif Bold"/>
              <a:sym typeface="Kollektif Bold"/>
            </a:endParaRPr>
          </a:p>
        </p:txBody>
      </p:sp>
      <p:sp>
        <p:nvSpPr>
          <p:cNvPr id="17" name="TextBox 17"/>
          <p:cNvSpPr txBox="1"/>
          <p:nvPr/>
        </p:nvSpPr>
        <p:spPr>
          <a:xfrm>
            <a:off x="12637981" y="3255866"/>
            <a:ext cx="4621283" cy="448281"/>
          </a:xfrm>
          <a:prstGeom prst="rect">
            <a:avLst/>
          </a:prstGeom>
        </p:spPr>
        <p:txBody>
          <a:bodyPr lIns="0" tIns="0" rIns="0" bIns="0" rtlCol="0" anchor="t">
            <a:spAutoFit/>
          </a:bodyPr>
          <a:lstStyle/>
          <a:p>
            <a:pPr algn="ctr">
              <a:lnSpc>
                <a:spcPts val="3640"/>
              </a:lnSpc>
            </a:pPr>
            <a:r>
              <a:rPr lang="en-US" sz="2600" b="1">
                <a:solidFill>
                  <a:srgbClr val="000000"/>
                </a:solidFill>
                <a:latin typeface="Canva Sans Bold"/>
                <a:ea typeface="Canva Sans Bold"/>
                <a:cs typeface="Canva Sans Bold"/>
                <a:sym typeface="Canva Sans Bold"/>
              </a:rPr>
              <a:t>Consultation and Inquiry </a:t>
            </a:r>
          </a:p>
        </p:txBody>
      </p:sp>
      <p:sp>
        <p:nvSpPr>
          <p:cNvPr id="18" name="TextBox 18"/>
          <p:cNvSpPr txBox="1"/>
          <p:nvPr/>
        </p:nvSpPr>
        <p:spPr>
          <a:xfrm>
            <a:off x="12639577" y="4466431"/>
            <a:ext cx="4247885" cy="4164139"/>
          </a:xfrm>
          <a:prstGeom prst="rect">
            <a:avLst/>
          </a:prstGeom>
        </p:spPr>
        <p:txBody>
          <a:bodyPr lIns="0" tIns="0" rIns="0" bIns="0" rtlCol="0" anchor="t">
            <a:spAutoFit/>
          </a:bodyPr>
          <a:lstStyle/>
          <a:p>
            <a:pPr marL="582933" lvl="1" indent="-291467" algn="l">
              <a:lnSpc>
                <a:spcPts val="4725"/>
              </a:lnSpc>
              <a:buFont typeface="Arial"/>
              <a:buChar char="•"/>
            </a:pPr>
            <a:r>
              <a:rPr lang="en-US" sz="2700">
                <a:solidFill>
                  <a:srgbClr val="000000"/>
                </a:solidFill>
                <a:latin typeface="Canva Sans"/>
                <a:ea typeface="Canva Sans"/>
                <a:cs typeface="Canva Sans"/>
                <a:sym typeface="Canva Sans"/>
              </a:rPr>
              <a:t>Inquiry form submission</a:t>
            </a:r>
          </a:p>
          <a:p>
            <a:pPr marL="582933" lvl="1" indent="-291467" algn="l">
              <a:lnSpc>
                <a:spcPts val="4725"/>
              </a:lnSpc>
              <a:buFont typeface="Arial"/>
              <a:buChar char="•"/>
            </a:pPr>
            <a:r>
              <a:rPr lang="en-US" sz="2700">
                <a:solidFill>
                  <a:srgbClr val="000000"/>
                </a:solidFill>
                <a:latin typeface="Canva Sans"/>
                <a:ea typeface="Canva Sans"/>
                <a:cs typeface="Canva Sans"/>
                <a:sym typeface="Canva Sans"/>
              </a:rPr>
              <a:t>Admin actions for responses</a:t>
            </a:r>
          </a:p>
          <a:p>
            <a:pPr marL="582933" lvl="1" indent="-291467" algn="l">
              <a:lnSpc>
                <a:spcPts val="4725"/>
              </a:lnSpc>
              <a:buFont typeface="Arial"/>
              <a:buChar char="•"/>
            </a:pPr>
            <a:r>
              <a:rPr lang="en-US" sz="2700">
                <a:solidFill>
                  <a:srgbClr val="000000"/>
                </a:solidFill>
                <a:latin typeface="Canva Sans"/>
                <a:ea typeface="Canva Sans"/>
                <a:cs typeface="Canva Sans"/>
                <a:sym typeface="Canva Sans"/>
              </a:rPr>
              <a:t>Auto-delete resolved inquiries</a:t>
            </a:r>
          </a:p>
          <a:p>
            <a:pPr algn="l">
              <a:lnSpc>
                <a:spcPts val="4725"/>
              </a:lnSpc>
            </a:pPr>
            <a:endParaRPr lang="en-US" sz="2700">
              <a:solidFill>
                <a:srgbClr val="000000"/>
              </a:solidFill>
              <a:latin typeface="Canva Sans"/>
              <a:ea typeface="Canva Sans"/>
              <a:cs typeface="Canva Sans"/>
              <a:sym typeface="Canva Sans"/>
            </a:endParaRPr>
          </a:p>
        </p:txBody>
      </p:sp>
      <p:grpSp>
        <p:nvGrpSpPr>
          <p:cNvPr id="19" name="Group 19"/>
          <p:cNvGrpSpPr/>
          <p:nvPr/>
        </p:nvGrpSpPr>
        <p:grpSpPr>
          <a:xfrm>
            <a:off x="525504" y="2052102"/>
            <a:ext cx="1400587" cy="1400587"/>
            <a:chOff x="0" y="0"/>
            <a:chExt cx="1867449" cy="1867449"/>
          </a:xfrm>
        </p:grpSpPr>
        <p:sp>
          <p:nvSpPr>
            <p:cNvPr id="20" name="Freeform 20"/>
            <p:cNvSpPr/>
            <p:nvPr/>
          </p:nvSpPr>
          <p:spPr>
            <a:xfrm>
              <a:off x="0" y="0"/>
              <a:ext cx="1867449" cy="1867449"/>
            </a:xfrm>
            <a:custGeom>
              <a:avLst/>
              <a:gdLst/>
              <a:ahLst/>
              <a:cxnLst/>
              <a:rect l="l" t="t" r="r" b="b"/>
              <a:pathLst>
                <a:path w="1867449" h="1867449">
                  <a:moveTo>
                    <a:pt x="0" y="0"/>
                  </a:moveTo>
                  <a:lnTo>
                    <a:pt x="1867449" y="0"/>
                  </a:lnTo>
                  <a:lnTo>
                    <a:pt x="1867449" y="1867449"/>
                  </a:lnTo>
                  <a:lnTo>
                    <a:pt x="0" y="18674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1" name="TextBox 21"/>
            <p:cNvSpPr txBox="1"/>
            <p:nvPr/>
          </p:nvSpPr>
          <p:spPr>
            <a:xfrm>
              <a:off x="0" y="560469"/>
              <a:ext cx="1867449" cy="895570"/>
            </a:xfrm>
            <a:prstGeom prst="rect">
              <a:avLst/>
            </a:prstGeom>
          </p:spPr>
          <p:txBody>
            <a:bodyPr lIns="0" tIns="0" rIns="0" bIns="0" rtlCol="0" anchor="t">
              <a:spAutoFit/>
            </a:bodyPr>
            <a:lstStyle/>
            <a:p>
              <a:pPr algn="ctr">
                <a:lnSpc>
                  <a:spcPts val="5106"/>
                </a:lnSpc>
                <a:spcBef>
                  <a:spcPct val="0"/>
                </a:spcBef>
              </a:pPr>
              <a:r>
                <a:rPr lang="en-US" sz="4600" b="1">
                  <a:solidFill>
                    <a:srgbClr val="000000"/>
                  </a:solidFill>
                  <a:latin typeface="DM Sans Bold"/>
                  <a:ea typeface="DM Sans Bold"/>
                  <a:cs typeface="DM Sans Bold"/>
                  <a:sym typeface="DM Sans Bold"/>
                </a:rPr>
                <a:t>1</a:t>
              </a:r>
            </a:p>
          </p:txBody>
        </p:sp>
      </p:grpSp>
      <p:grpSp>
        <p:nvGrpSpPr>
          <p:cNvPr id="22" name="Group 22"/>
          <p:cNvGrpSpPr/>
          <p:nvPr/>
        </p:nvGrpSpPr>
        <p:grpSpPr>
          <a:xfrm>
            <a:off x="5962703" y="2052102"/>
            <a:ext cx="1400587" cy="1400587"/>
            <a:chOff x="0" y="0"/>
            <a:chExt cx="1867449" cy="1867449"/>
          </a:xfrm>
        </p:grpSpPr>
        <p:sp>
          <p:nvSpPr>
            <p:cNvPr id="23" name="Freeform 23"/>
            <p:cNvSpPr/>
            <p:nvPr/>
          </p:nvSpPr>
          <p:spPr>
            <a:xfrm>
              <a:off x="0" y="0"/>
              <a:ext cx="1867449" cy="1867449"/>
            </a:xfrm>
            <a:custGeom>
              <a:avLst/>
              <a:gdLst/>
              <a:ahLst/>
              <a:cxnLst/>
              <a:rect l="l" t="t" r="r" b="b"/>
              <a:pathLst>
                <a:path w="1867449" h="1867449">
                  <a:moveTo>
                    <a:pt x="0" y="0"/>
                  </a:moveTo>
                  <a:lnTo>
                    <a:pt x="1867449" y="0"/>
                  </a:lnTo>
                  <a:lnTo>
                    <a:pt x="1867449" y="1867449"/>
                  </a:lnTo>
                  <a:lnTo>
                    <a:pt x="0" y="18674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4" name="TextBox 24"/>
            <p:cNvSpPr txBox="1"/>
            <p:nvPr/>
          </p:nvSpPr>
          <p:spPr>
            <a:xfrm>
              <a:off x="0" y="560469"/>
              <a:ext cx="1867449" cy="895570"/>
            </a:xfrm>
            <a:prstGeom prst="rect">
              <a:avLst/>
            </a:prstGeom>
          </p:spPr>
          <p:txBody>
            <a:bodyPr lIns="0" tIns="0" rIns="0" bIns="0" rtlCol="0" anchor="t">
              <a:spAutoFit/>
            </a:bodyPr>
            <a:lstStyle/>
            <a:p>
              <a:pPr algn="ctr">
                <a:lnSpc>
                  <a:spcPts val="5106"/>
                </a:lnSpc>
                <a:spcBef>
                  <a:spcPct val="0"/>
                </a:spcBef>
              </a:pPr>
              <a:r>
                <a:rPr lang="en-US" sz="4600" b="1">
                  <a:solidFill>
                    <a:srgbClr val="000000"/>
                  </a:solidFill>
                  <a:latin typeface="DM Sans Bold"/>
                  <a:ea typeface="DM Sans Bold"/>
                  <a:cs typeface="DM Sans Bold"/>
                  <a:sym typeface="DM Sans Bold"/>
                </a:rPr>
                <a:t>2</a:t>
              </a:r>
            </a:p>
          </p:txBody>
        </p:sp>
      </p:grpSp>
      <p:grpSp>
        <p:nvGrpSpPr>
          <p:cNvPr id="25" name="Group 25"/>
          <p:cNvGrpSpPr/>
          <p:nvPr/>
        </p:nvGrpSpPr>
        <p:grpSpPr>
          <a:xfrm>
            <a:off x="11567483" y="2052102"/>
            <a:ext cx="1400587" cy="1400587"/>
            <a:chOff x="0" y="0"/>
            <a:chExt cx="1867449" cy="1867449"/>
          </a:xfrm>
        </p:grpSpPr>
        <p:sp>
          <p:nvSpPr>
            <p:cNvPr id="26" name="Freeform 26"/>
            <p:cNvSpPr/>
            <p:nvPr/>
          </p:nvSpPr>
          <p:spPr>
            <a:xfrm>
              <a:off x="0" y="0"/>
              <a:ext cx="1867449" cy="1867449"/>
            </a:xfrm>
            <a:custGeom>
              <a:avLst/>
              <a:gdLst/>
              <a:ahLst/>
              <a:cxnLst/>
              <a:rect l="l" t="t" r="r" b="b"/>
              <a:pathLst>
                <a:path w="1867449" h="1867449">
                  <a:moveTo>
                    <a:pt x="0" y="0"/>
                  </a:moveTo>
                  <a:lnTo>
                    <a:pt x="1867449" y="0"/>
                  </a:lnTo>
                  <a:lnTo>
                    <a:pt x="1867449" y="1867449"/>
                  </a:lnTo>
                  <a:lnTo>
                    <a:pt x="0" y="18674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7" name="TextBox 27"/>
            <p:cNvSpPr txBox="1"/>
            <p:nvPr/>
          </p:nvSpPr>
          <p:spPr>
            <a:xfrm>
              <a:off x="0" y="560469"/>
              <a:ext cx="1867449" cy="895570"/>
            </a:xfrm>
            <a:prstGeom prst="rect">
              <a:avLst/>
            </a:prstGeom>
          </p:spPr>
          <p:txBody>
            <a:bodyPr lIns="0" tIns="0" rIns="0" bIns="0" rtlCol="0" anchor="t">
              <a:spAutoFit/>
            </a:bodyPr>
            <a:lstStyle/>
            <a:p>
              <a:pPr algn="ctr">
                <a:lnSpc>
                  <a:spcPts val="5106"/>
                </a:lnSpc>
                <a:spcBef>
                  <a:spcPct val="0"/>
                </a:spcBef>
              </a:pPr>
              <a:r>
                <a:rPr lang="en-US" sz="4600" b="1">
                  <a:solidFill>
                    <a:srgbClr val="000000"/>
                  </a:solidFill>
                  <a:latin typeface="DM Sans Bold"/>
                  <a:ea typeface="DM Sans Bold"/>
                  <a:cs typeface="DM Sans Bold"/>
                  <a:sym typeface="DM Sans Bold"/>
                </a:rPr>
                <a:t>3</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475884"/>
            <a:ext cx="1105633" cy="1105633"/>
          </a:xfrm>
          <a:custGeom>
            <a:avLst/>
            <a:gdLst/>
            <a:ahLst/>
            <a:cxnLst/>
            <a:rect l="l" t="t" r="r" b="b"/>
            <a:pathLst>
              <a:path w="1105633" h="1105633">
                <a:moveTo>
                  <a:pt x="0" y="0"/>
                </a:moveTo>
                <a:lnTo>
                  <a:pt x="1105633" y="0"/>
                </a:lnTo>
                <a:lnTo>
                  <a:pt x="1105633" y="1105632"/>
                </a:lnTo>
                <a:lnTo>
                  <a:pt x="0" y="11056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381047" y="776594"/>
            <a:ext cx="4281950" cy="957323"/>
          </a:xfrm>
          <a:prstGeom prst="rect">
            <a:avLst/>
          </a:prstGeom>
        </p:spPr>
        <p:txBody>
          <a:bodyPr lIns="0" tIns="0" rIns="0" bIns="0" rtlCol="0" anchor="t">
            <a:spAutoFit/>
          </a:bodyPr>
          <a:lstStyle/>
          <a:p>
            <a:pPr algn="l">
              <a:lnSpc>
                <a:spcPts val="3444"/>
              </a:lnSpc>
            </a:pPr>
            <a:r>
              <a:rPr lang="en-US" sz="3479" b="1">
                <a:solidFill>
                  <a:srgbClr val="FE6D73"/>
                </a:solidFill>
                <a:latin typeface="Kollektif Bold"/>
                <a:ea typeface="Kollektif Bold"/>
                <a:cs typeface="Kollektif Bold"/>
                <a:sym typeface="Kollektif Bold"/>
              </a:rPr>
              <a:t>WORK MODULES</a:t>
            </a:r>
          </a:p>
          <a:p>
            <a:pPr algn="l">
              <a:lnSpc>
                <a:spcPts val="3444"/>
              </a:lnSpc>
            </a:pPr>
            <a:endParaRPr lang="en-US" sz="3479" b="1">
              <a:solidFill>
                <a:srgbClr val="FE6D73"/>
              </a:solidFill>
              <a:latin typeface="Kollektif Bold"/>
              <a:ea typeface="Kollektif Bold"/>
              <a:cs typeface="Kollektif Bold"/>
              <a:sym typeface="Kollektif Bold"/>
            </a:endParaRPr>
          </a:p>
        </p:txBody>
      </p:sp>
      <p:grpSp>
        <p:nvGrpSpPr>
          <p:cNvPr id="4" name="Group 4"/>
          <p:cNvGrpSpPr/>
          <p:nvPr/>
        </p:nvGrpSpPr>
        <p:grpSpPr>
          <a:xfrm>
            <a:off x="709818" y="2719731"/>
            <a:ext cx="4821276" cy="7043820"/>
            <a:chOff x="0" y="0"/>
            <a:chExt cx="6428368" cy="9391760"/>
          </a:xfrm>
        </p:grpSpPr>
        <p:grpSp>
          <p:nvGrpSpPr>
            <p:cNvPr id="5" name="Group 5"/>
            <p:cNvGrpSpPr/>
            <p:nvPr/>
          </p:nvGrpSpPr>
          <p:grpSpPr>
            <a:xfrm>
              <a:off x="0" y="0"/>
              <a:ext cx="6428368" cy="9391760"/>
              <a:chOff x="0" y="0"/>
              <a:chExt cx="1269801" cy="1855163"/>
            </a:xfrm>
          </p:grpSpPr>
          <p:sp>
            <p:nvSpPr>
              <p:cNvPr id="6" name="Freeform 6"/>
              <p:cNvSpPr/>
              <p:nvPr/>
            </p:nvSpPr>
            <p:spPr>
              <a:xfrm>
                <a:off x="0" y="0"/>
                <a:ext cx="1269801" cy="1855163"/>
              </a:xfrm>
              <a:custGeom>
                <a:avLst/>
                <a:gdLst/>
                <a:ahLst/>
                <a:cxnLst/>
                <a:rect l="l" t="t" r="r" b="b"/>
                <a:pathLst>
                  <a:path w="1269801" h="1855163">
                    <a:moveTo>
                      <a:pt x="0" y="0"/>
                    </a:moveTo>
                    <a:lnTo>
                      <a:pt x="1269801" y="0"/>
                    </a:lnTo>
                    <a:lnTo>
                      <a:pt x="1269801" y="1855163"/>
                    </a:lnTo>
                    <a:lnTo>
                      <a:pt x="0" y="1855163"/>
                    </a:lnTo>
                    <a:close/>
                  </a:path>
                </a:pathLst>
              </a:custGeom>
              <a:solidFill>
                <a:srgbClr val="F2E982"/>
              </a:solidFill>
            </p:spPr>
          </p:sp>
          <p:sp>
            <p:nvSpPr>
              <p:cNvPr id="7" name="TextBox 7"/>
              <p:cNvSpPr txBox="1"/>
              <p:nvPr/>
            </p:nvSpPr>
            <p:spPr>
              <a:xfrm>
                <a:off x="0" y="19050"/>
                <a:ext cx="1269801" cy="1836113"/>
              </a:xfrm>
              <a:prstGeom prst="rect">
                <a:avLst/>
              </a:prstGeom>
            </p:spPr>
            <p:txBody>
              <a:bodyPr lIns="50800" tIns="50800" rIns="50800" bIns="50800" rtlCol="0" anchor="ctr"/>
              <a:lstStyle/>
              <a:p>
                <a:pPr algn="ctr">
                  <a:lnSpc>
                    <a:spcPts val="2553"/>
                  </a:lnSpc>
                </a:pPr>
                <a:endParaRPr/>
              </a:p>
            </p:txBody>
          </p:sp>
        </p:grpSp>
        <p:sp>
          <p:nvSpPr>
            <p:cNvPr id="8" name="TextBox 8"/>
            <p:cNvSpPr txBox="1"/>
            <p:nvPr/>
          </p:nvSpPr>
          <p:spPr>
            <a:xfrm>
              <a:off x="700342" y="471944"/>
              <a:ext cx="5390169" cy="556609"/>
            </a:xfrm>
            <a:prstGeom prst="rect">
              <a:avLst/>
            </a:prstGeom>
          </p:spPr>
          <p:txBody>
            <a:bodyPr lIns="0" tIns="0" rIns="0" bIns="0" rtlCol="0" anchor="t">
              <a:spAutoFit/>
            </a:bodyPr>
            <a:lstStyle/>
            <a:p>
              <a:pPr algn="ctr">
                <a:lnSpc>
                  <a:spcPts val="3500"/>
                </a:lnSpc>
              </a:pPr>
              <a:endParaRPr/>
            </a:p>
          </p:txBody>
        </p:sp>
      </p:grpSp>
      <p:sp>
        <p:nvSpPr>
          <p:cNvPr id="9" name="TextBox 9"/>
          <p:cNvSpPr txBox="1"/>
          <p:nvPr/>
        </p:nvSpPr>
        <p:spPr>
          <a:xfrm>
            <a:off x="1271710" y="3058883"/>
            <a:ext cx="3250312" cy="905454"/>
          </a:xfrm>
          <a:prstGeom prst="rect">
            <a:avLst/>
          </a:prstGeom>
        </p:spPr>
        <p:txBody>
          <a:bodyPr lIns="0" tIns="0" rIns="0" bIns="0" rtlCol="0" anchor="t">
            <a:spAutoFit/>
          </a:bodyPr>
          <a:lstStyle/>
          <a:p>
            <a:pPr algn="ctr">
              <a:lnSpc>
                <a:spcPts val="3640"/>
              </a:lnSpc>
            </a:pPr>
            <a:r>
              <a:rPr lang="en-US" sz="2600" b="1">
                <a:solidFill>
                  <a:srgbClr val="000000"/>
                </a:solidFill>
                <a:latin typeface="Canva Sans Bold"/>
                <a:ea typeface="Canva Sans Bold"/>
                <a:cs typeface="Canva Sans Bold"/>
                <a:sym typeface="Canva Sans Bold"/>
              </a:rPr>
              <a:t>Announcement and </a:t>
            </a:r>
          </a:p>
          <a:p>
            <a:pPr algn="ctr">
              <a:lnSpc>
                <a:spcPts val="3640"/>
              </a:lnSpc>
            </a:pPr>
            <a:r>
              <a:rPr lang="en-US" sz="2600" b="1">
                <a:solidFill>
                  <a:srgbClr val="000000"/>
                </a:solidFill>
                <a:latin typeface="Canva Sans Bold"/>
                <a:ea typeface="Canva Sans Bold"/>
                <a:cs typeface="Canva Sans Bold"/>
                <a:sym typeface="Canva Sans Bold"/>
              </a:rPr>
              <a:t>Notifications </a:t>
            </a:r>
          </a:p>
        </p:txBody>
      </p:sp>
      <p:sp>
        <p:nvSpPr>
          <p:cNvPr id="10" name="TextBox 10"/>
          <p:cNvSpPr txBox="1"/>
          <p:nvPr/>
        </p:nvSpPr>
        <p:spPr>
          <a:xfrm>
            <a:off x="1028700" y="4459606"/>
            <a:ext cx="4299231" cy="5307931"/>
          </a:xfrm>
          <a:prstGeom prst="rect">
            <a:avLst/>
          </a:prstGeom>
        </p:spPr>
        <p:txBody>
          <a:bodyPr lIns="0" tIns="0" rIns="0" bIns="0" rtlCol="0" anchor="t">
            <a:spAutoFit/>
          </a:bodyPr>
          <a:lstStyle/>
          <a:p>
            <a:pPr marL="582933" lvl="1" indent="-291467" algn="l">
              <a:lnSpc>
                <a:spcPts val="4266"/>
              </a:lnSpc>
              <a:buFont typeface="Arial"/>
              <a:buChar char="•"/>
            </a:pPr>
            <a:r>
              <a:rPr lang="en-US" sz="2700">
                <a:solidFill>
                  <a:srgbClr val="000000"/>
                </a:solidFill>
                <a:latin typeface="Canva Sans"/>
                <a:ea typeface="Canva Sans"/>
                <a:cs typeface="Canva Sans"/>
                <a:sym typeface="Canva Sans"/>
              </a:rPr>
              <a:t>Admin &amp; teacher manages and publishes announcements.</a:t>
            </a:r>
          </a:p>
          <a:p>
            <a:pPr marL="582933" lvl="1" indent="-291467" algn="l">
              <a:lnSpc>
                <a:spcPts val="4266"/>
              </a:lnSpc>
              <a:buFont typeface="Arial"/>
              <a:buChar char="•"/>
            </a:pPr>
            <a:r>
              <a:rPr lang="en-US" sz="2700">
                <a:solidFill>
                  <a:srgbClr val="000000"/>
                </a:solidFill>
                <a:latin typeface="Canva Sans"/>
                <a:ea typeface="Canva Sans"/>
                <a:cs typeface="Canva Sans"/>
                <a:sym typeface="Canva Sans"/>
              </a:rPr>
              <a:t>Notifications displayed on user dashboards.</a:t>
            </a:r>
          </a:p>
          <a:p>
            <a:pPr marL="582933" lvl="1" indent="-291467" algn="l">
              <a:lnSpc>
                <a:spcPts val="4266"/>
              </a:lnSpc>
              <a:buFont typeface="Arial"/>
              <a:buChar char="•"/>
            </a:pPr>
            <a:r>
              <a:rPr lang="en-US" sz="2700">
                <a:solidFill>
                  <a:srgbClr val="000000"/>
                </a:solidFill>
                <a:latin typeface="Canva Sans"/>
                <a:ea typeface="Canva Sans"/>
                <a:cs typeface="Canva Sans"/>
                <a:sym typeface="Canva Sans"/>
              </a:rPr>
              <a:t>Notify users about events and activities.</a:t>
            </a:r>
          </a:p>
          <a:p>
            <a:pPr algn="l">
              <a:lnSpc>
                <a:spcPts val="4266"/>
              </a:lnSpc>
            </a:pPr>
            <a:endParaRPr lang="en-US" sz="2700">
              <a:solidFill>
                <a:srgbClr val="000000"/>
              </a:solidFill>
              <a:latin typeface="Canva Sans"/>
              <a:ea typeface="Canva Sans"/>
              <a:cs typeface="Canva Sans"/>
              <a:sym typeface="Canva Sans"/>
            </a:endParaRPr>
          </a:p>
        </p:txBody>
      </p:sp>
      <p:grpSp>
        <p:nvGrpSpPr>
          <p:cNvPr id="11" name="Group 11"/>
          <p:cNvGrpSpPr/>
          <p:nvPr/>
        </p:nvGrpSpPr>
        <p:grpSpPr>
          <a:xfrm>
            <a:off x="5531094" y="1924416"/>
            <a:ext cx="5220915" cy="7937042"/>
            <a:chOff x="0" y="0"/>
            <a:chExt cx="6961220" cy="10582723"/>
          </a:xfrm>
        </p:grpSpPr>
        <p:grpSp>
          <p:nvGrpSpPr>
            <p:cNvPr id="12" name="Group 12"/>
            <p:cNvGrpSpPr/>
            <p:nvPr/>
          </p:nvGrpSpPr>
          <p:grpSpPr>
            <a:xfrm>
              <a:off x="800663" y="1190962"/>
              <a:ext cx="6160558" cy="9391760"/>
              <a:chOff x="0" y="0"/>
              <a:chExt cx="1216900" cy="1855163"/>
            </a:xfrm>
          </p:grpSpPr>
          <p:sp>
            <p:nvSpPr>
              <p:cNvPr id="13" name="Freeform 13"/>
              <p:cNvSpPr/>
              <p:nvPr/>
            </p:nvSpPr>
            <p:spPr>
              <a:xfrm>
                <a:off x="0" y="0"/>
                <a:ext cx="1216900" cy="1855163"/>
              </a:xfrm>
              <a:custGeom>
                <a:avLst/>
                <a:gdLst/>
                <a:ahLst/>
                <a:cxnLst/>
                <a:rect l="l" t="t" r="r" b="b"/>
                <a:pathLst>
                  <a:path w="1216900" h="1855163">
                    <a:moveTo>
                      <a:pt x="0" y="0"/>
                    </a:moveTo>
                    <a:lnTo>
                      <a:pt x="1216900" y="0"/>
                    </a:lnTo>
                    <a:lnTo>
                      <a:pt x="1216900" y="1855163"/>
                    </a:lnTo>
                    <a:lnTo>
                      <a:pt x="0" y="1855163"/>
                    </a:lnTo>
                    <a:close/>
                  </a:path>
                </a:pathLst>
              </a:custGeom>
              <a:solidFill>
                <a:srgbClr val="F2E982"/>
              </a:solidFill>
            </p:spPr>
          </p:sp>
          <p:sp>
            <p:nvSpPr>
              <p:cNvPr id="14" name="TextBox 14"/>
              <p:cNvSpPr txBox="1"/>
              <p:nvPr/>
            </p:nvSpPr>
            <p:spPr>
              <a:xfrm>
                <a:off x="0" y="19050"/>
                <a:ext cx="1216900" cy="1836113"/>
              </a:xfrm>
              <a:prstGeom prst="rect">
                <a:avLst/>
              </a:prstGeom>
            </p:spPr>
            <p:txBody>
              <a:bodyPr lIns="50800" tIns="50800" rIns="50800" bIns="50800" rtlCol="0" anchor="ctr"/>
              <a:lstStyle/>
              <a:p>
                <a:pPr algn="ctr">
                  <a:lnSpc>
                    <a:spcPts val="2553"/>
                  </a:lnSpc>
                </a:pPr>
                <a:endParaRPr/>
              </a:p>
            </p:txBody>
          </p:sp>
        </p:grpSp>
        <p:sp>
          <p:nvSpPr>
            <p:cNvPr id="15" name="TextBox 15"/>
            <p:cNvSpPr txBox="1"/>
            <p:nvPr/>
          </p:nvSpPr>
          <p:spPr>
            <a:xfrm>
              <a:off x="1418608" y="1662907"/>
              <a:ext cx="4756005" cy="578658"/>
            </a:xfrm>
            <a:prstGeom prst="rect">
              <a:avLst/>
            </a:prstGeom>
          </p:spPr>
          <p:txBody>
            <a:bodyPr lIns="0" tIns="0" rIns="0" bIns="0" rtlCol="0" anchor="t">
              <a:spAutoFit/>
            </a:bodyPr>
            <a:lstStyle/>
            <a:p>
              <a:pPr algn="ctr">
                <a:lnSpc>
                  <a:spcPts val="3640"/>
                </a:lnSpc>
              </a:pPr>
              <a:r>
                <a:rPr lang="en-US" sz="2600" b="1">
                  <a:solidFill>
                    <a:srgbClr val="000000"/>
                  </a:solidFill>
                  <a:latin typeface="Canva Sans Bold"/>
                  <a:ea typeface="Canva Sans Bold"/>
                  <a:cs typeface="Canva Sans Bold"/>
                  <a:sym typeface="Canva Sans Bold"/>
                </a:rPr>
                <a:t>Fee Management </a:t>
              </a:r>
            </a:p>
          </p:txBody>
        </p:sp>
        <p:sp>
          <p:nvSpPr>
            <p:cNvPr id="16" name="TextBox 16"/>
            <p:cNvSpPr txBox="1"/>
            <p:nvPr/>
          </p:nvSpPr>
          <p:spPr>
            <a:xfrm>
              <a:off x="1223158" y="3507820"/>
              <a:ext cx="4827068" cy="4994399"/>
            </a:xfrm>
            <a:prstGeom prst="rect">
              <a:avLst/>
            </a:prstGeom>
          </p:spPr>
          <p:txBody>
            <a:bodyPr lIns="0" tIns="0" rIns="0" bIns="0" rtlCol="0" anchor="t">
              <a:spAutoFit/>
            </a:bodyPr>
            <a:lstStyle/>
            <a:p>
              <a:pPr marL="582933" lvl="1" indent="-291467" algn="l">
                <a:lnSpc>
                  <a:spcPts val="4347"/>
                </a:lnSpc>
                <a:buFont typeface="Arial"/>
                <a:buChar char="•"/>
              </a:pPr>
              <a:r>
                <a:rPr lang="en-US" sz="2700">
                  <a:solidFill>
                    <a:srgbClr val="000000"/>
                  </a:solidFill>
                  <a:latin typeface="Canva Sans"/>
                  <a:ea typeface="Canva Sans"/>
                  <a:cs typeface="Canva Sans"/>
                  <a:sym typeface="Canva Sans"/>
                </a:rPr>
                <a:t>Payment gateway integration.</a:t>
              </a:r>
            </a:p>
            <a:p>
              <a:pPr marL="582933" lvl="1" indent="-291467" algn="l">
                <a:lnSpc>
                  <a:spcPts val="4347"/>
                </a:lnSpc>
                <a:buFont typeface="Arial"/>
                <a:buChar char="•"/>
              </a:pPr>
              <a:r>
                <a:rPr lang="en-US" sz="2700">
                  <a:solidFill>
                    <a:srgbClr val="000000"/>
                  </a:solidFill>
                  <a:latin typeface="Canva Sans"/>
                  <a:ea typeface="Canva Sans"/>
                  <a:cs typeface="Canva Sans"/>
                  <a:sym typeface="Canva Sans"/>
                </a:rPr>
                <a:t>Fee structure display.</a:t>
              </a:r>
            </a:p>
            <a:p>
              <a:pPr marL="582933" lvl="1" indent="-291467" algn="l">
                <a:lnSpc>
                  <a:spcPts val="4347"/>
                </a:lnSpc>
                <a:buFont typeface="Arial"/>
                <a:buChar char="•"/>
              </a:pPr>
              <a:r>
                <a:rPr lang="en-US" sz="2700">
                  <a:solidFill>
                    <a:srgbClr val="000000"/>
                  </a:solidFill>
                  <a:latin typeface="Canva Sans"/>
                  <a:ea typeface="Canva Sans"/>
                  <a:cs typeface="Canva Sans"/>
                  <a:sym typeface="Canva Sans"/>
                </a:rPr>
                <a:t>Generate  payment receipts.</a:t>
              </a:r>
            </a:p>
            <a:p>
              <a:pPr algn="l">
                <a:lnSpc>
                  <a:spcPts val="4347"/>
                </a:lnSpc>
              </a:pPr>
              <a:endParaRPr lang="en-US" sz="2700">
                <a:solidFill>
                  <a:srgbClr val="000000"/>
                </a:solidFill>
                <a:latin typeface="Canva Sans"/>
                <a:ea typeface="Canva Sans"/>
                <a:cs typeface="Canva Sans"/>
                <a:sym typeface="Canva Sans"/>
              </a:endParaRPr>
            </a:p>
          </p:txBody>
        </p:sp>
        <p:sp>
          <p:nvSpPr>
            <p:cNvPr id="17" name="Freeform 17"/>
            <p:cNvSpPr/>
            <p:nvPr/>
          </p:nvSpPr>
          <p:spPr>
            <a:xfrm>
              <a:off x="0" y="0"/>
              <a:ext cx="1610211" cy="1610211"/>
            </a:xfrm>
            <a:custGeom>
              <a:avLst/>
              <a:gdLst/>
              <a:ahLst/>
              <a:cxnLst/>
              <a:rect l="l" t="t" r="r" b="b"/>
              <a:pathLst>
                <a:path w="1610211" h="1610211">
                  <a:moveTo>
                    <a:pt x="0" y="0"/>
                  </a:moveTo>
                  <a:lnTo>
                    <a:pt x="1610211" y="0"/>
                  </a:lnTo>
                  <a:lnTo>
                    <a:pt x="1610211" y="1610211"/>
                  </a:lnTo>
                  <a:lnTo>
                    <a:pt x="0" y="16102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TextBox 18"/>
            <p:cNvSpPr txBox="1"/>
            <p:nvPr/>
          </p:nvSpPr>
          <p:spPr>
            <a:xfrm>
              <a:off x="0" y="478988"/>
              <a:ext cx="1610211" cy="776483"/>
            </a:xfrm>
            <a:prstGeom prst="rect">
              <a:avLst/>
            </a:prstGeom>
          </p:spPr>
          <p:txBody>
            <a:bodyPr lIns="0" tIns="0" rIns="0" bIns="0" rtlCol="0" anchor="t">
              <a:spAutoFit/>
            </a:bodyPr>
            <a:lstStyle/>
            <a:p>
              <a:pPr algn="ctr">
                <a:lnSpc>
                  <a:spcPts val="4402"/>
                </a:lnSpc>
                <a:spcBef>
                  <a:spcPct val="0"/>
                </a:spcBef>
              </a:pPr>
              <a:r>
                <a:rPr lang="en-US" sz="3966" b="1">
                  <a:solidFill>
                    <a:srgbClr val="000000"/>
                  </a:solidFill>
                  <a:latin typeface="DM Sans Bold"/>
                  <a:ea typeface="DM Sans Bold"/>
                  <a:cs typeface="DM Sans Bold"/>
                  <a:sym typeface="DM Sans Bold"/>
                </a:rPr>
                <a:t>5</a:t>
              </a:r>
            </a:p>
          </p:txBody>
        </p:sp>
      </p:grpSp>
      <p:grpSp>
        <p:nvGrpSpPr>
          <p:cNvPr id="19" name="Group 19"/>
          <p:cNvGrpSpPr/>
          <p:nvPr/>
        </p:nvGrpSpPr>
        <p:grpSpPr>
          <a:xfrm>
            <a:off x="148852" y="1924416"/>
            <a:ext cx="1121934" cy="1121934"/>
            <a:chOff x="0" y="0"/>
            <a:chExt cx="1495911" cy="1495911"/>
          </a:xfrm>
        </p:grpSpPr>
        <p:sp>
          <p:nvSpPr>
            <p:cNvPr id="20" name="Freeform 20"/>
            <p:cNvSpPr/>
            <p:nvPr/>
          </p:nvSpPr>
          <p:spPr>
            <a:xfrm>
              <a:off x="0" y="0"/>
              <a:ext cx="1495911" cy="1495911"/>
            </a:xfrm>
            <a:custGeom>
              <a:avLst/>
              <a:gdLst/>
              <a:ahLst/>
              <a:cxnLst/>
              <a:rect l="l" t="t" r="r" b="b"/>
              <a:pathLst>
                <a:path w="1495911" h="1495911">
                  <a:moveTo>
                    <a:pt x="0" y="0"/>
                  </a:moveTo>
                  <a:lnTo>
                    <a:pt x="1495911" y="0"/>
                  </a:lnTo>
                  <a:lnTo>
                    <a:pt x="1495911" y="1495911"/>
                  </a:lnTo>
                  <a:lnTo>
                    <a:pt x="0" y="14959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1" name="TextBox 21"/>
            <p:cNvSpPr txBox="1"/>
            <p:nvPr/>
          </p:nvSpPr>
          <p:spPr>
            <a:xfrm>
              <a:off x="0" y="456541"/>
              <a:ext cx="1495911" cy="709812"/>
            </a:xfrm>
            <a:prstGeom prst="rect">
              <a:avLst/>
            </a:prstGeom>
          </p:spPr>
          <p:txBody>
            <a:bodyPr lIns="0" tIns="0" rIns="0" bIns="0" rtlCol="0" anchor="t">
              <a:spAutoFit/>
            </a:bodyPr>
            <a:lstStyle/>
            <a:p>
              <a:pPr algn="ctr">
                <a:lnSpc>
                  <a:spcPts val="4090"/>
                </a:lnSpc>
                <a:spcBef>
                  <a:spcPct val="0"/>
                </a:spcBef>
              </a:pPr>
              <a:r>
                <a:rPr lang="en-US" sz="3684" b="1">
                  <a:solidFill>
                    <a:srgbClr val="000000"/>
                  </a:solidFill>
                  <a:latin typeface="DM Sans Bold"/>
                  <a:ea typeface="DM Sans Bold"/>
                  <a:cs typeface="DM Sans Bold"/>
                  <a:sym typeface="DM Sans Bold"/>
                </a:rPr>
                <a:t>4</a:t>
              </a:r>
            </a:p>
          </p:txBody>
        </p:sp>
      </p:grpSp>
      <p:grpSp>
        <p:nvGrpSpPr>
          <p:cNvPr id="22" name="Group 22"/>
          <p:cNvGrpSpPr/>
          <p:nvPr/>
        </p:nvGrpSpPr>
        <p:grpSpPr>
          <a:xfrm>
            <a:off x="10752010" y="1924416"/>
            <a:ext cx="6670731" cy="7937042"/>
            <a:chOff x="0" y="0"/>
            <a:chExt cx="8894308" cy="10582723"/>
          </a:xfrm>
        </p:grpSpPr>
        <p:grpSp>
          <p:nvGrpSpPr>
            <p:cNvPr id="23" name="Group 23"/>
            <p:cNvGrpSpPr/>
            <p:nvPr/>
          </p:nvGrpSpPr>
          <p:grpSpPr>
            <a:xfrm>
              <a:off x="1219200" y="1190962"/>
              <a:ext cx="7400459" cy="9391760"/>
              <a:chOff x="0" y="0"/>
              <a:chExt cx="1461819" cy="1855163"/>
            </a:xfrm>
          </p:grpSpPr>
          <p:sp>
            <p:nvSpPr>
              <p:cNvPr id="24" name="Freeform 24"/>
              <p:cNvSpPr/>
              <p:nvPr/>
            </p:nvSpPr>
            <p:spPr>
              <a:xfrm>
                <a:off x="0" y="0"/>
                <a:ext cx="1461819" cy="1855163"/>
              </a:xfrm>
              <a:custGeom>
                <a:avLst/>
                <a:gdLst/>
                <a:ahLst/>
                <a:cxnLst/>
                <a:rect l="l" t="t" r="r" b="b"/>
                <a:pathLst>
                  <a:path w="1461819" h="1855163">
                    <a:moveTo>
                      <a:pt x="0" y="0"/>
                    </a:moveTo>
                    <a:lnTo>
                      <a:pt x="1461819" y="0"/>
                    </a:lnTo>
                    <a:lnTo>
                      <a:pt x="1461819" y="1855163"/>
                    </a:lnTo>
                    <a:lnTo>
                      <a:pt x="0" y="1855163"/>
                    </a:lnTo>
                    <a:close/>
                  </a:path>
                </a:pathLst>
              </a:custGeom>
              <a:solidFill>
                <a:srgbClr val="F2E982"/>
              </a:solidFill>
            </p:spPr>
          </p:sp>
          <p:sp>
            <p:nvSpPr>
              <p:cNvPr id="25" name="TextBox 25"/>
              <p:cNvSpPr txBox="1"/>
              <p:nvPr/>
            </p:nvSpPr>
            <p:spPr>
              <a:xfrm>
                <a:off x="0" y="19050"/>
                <a:ext cx="1461819" cy="1836113"/>
              </a:xfrm>
              <a:prstGeom prst="rect">
                <a:avLst/>
              </a:prstGeom>
            </p:spPr>
            <p:txBody>
              <a:bodyPr lIns="50800" tIns="50800" rIns="50800" bIns="50800" rtlCol="0" anchor="ctr"/>
              <a:lstStyle/>
              <a:p>
                <a:pPr algn="ctr">
                  <a:lnSpc>
                    <a:spcPts val="2553"/>
                  </a:lnSpc>
                </a:pPr>
                <a:endParaRPr/>
              </a:p>
            </p:txBody>
          </p:sp>
        </p:grpSp>
        <p:sp>
          <p:nvSpPr>
            <p:cNvPr id="26" name="TextBox 26"/>
            <p:cNvSpPr txBox="1"/>
            <p:nvPr/>
          </p:nvSpPr>
          <p:spPr>
            <a:xfrm>
              <a:off x="1885324" y="1653925"/>
              <a:ext cx="5966496" cy="1188222"/>
            </a:xfrm>
            <a:prstGeom prst="rect">
              <a:avLst/>
            </a:prstGeom>
          </p:spPr>
          <p:txBody>
            <a:bodyPr lIns="0" tIns="0" rIns="0" bIns="0" rtlCol="0" anchor="t">
              <a:spAutoFit/>
            </a:bodyPr>
            <a:lstStyle/>
            <a:p>
              <a:pPr algn="ctr">
                <a:lnSpc>
                  <a:spcPts val="3640"/>
                </a:lnSpc>
              </a:pPr>
              <a:r>
                <a:rPr lang="en-US" sz="2600" b="1">
                  <a:solidFill>
                    <a:srgbClr val="000000"/>
                  </a:solidFill>
                  <a:latin typeface="Canva Sans Bold"/>
                  <a:ea typeface="Canva Sans Bold"/>
                  <a:cs typeface="Canva Sans Bold"/>
                  <a:sym typeface="Canva Sans Bold"/>
                </a:rPr>
                <a:t>Uploading Test Marks &amp; Attendance</a:t>
              </a:r>
            </a:p>
          </p:txBody>
        </p:sp>
        <p:sp>
          <p:nvSpPr>
            <p:cNvPr id="27" name="TextBox 27"/>
            <p:cNvSpPr txBox="1"/>
            <p:nvPr/>
          </p:nvSpPr>
          <p:spPr>
            <a:xfrm>
              <a:off x="1500636" y="3559129"/>
              <a:ext cx="7393671" cy="3139092"/>
            </a:xfrm>
            <a:prstGeom prst="rect">
              <a:avLst/>
            </a:prstGeom>
          </p:spPr>
          <p:txBody>
            <a:bodyPr lIns="0" tIns="0" rIns="0" bIns="0" rtlCol="0" anchor="t">
              <a:spAutoFit/>
            </a:bodyPr>
            <a:lstStyle/>
            <a:p>
              <a:pPr marL="582933" lvl="1" indent="-291467" algn="l">
                <a:lnSpc>
                  <a:spcPts val="4860"/>
                </a:lnSpc>
                <a:buFont typeface="Arial"/>
                <a:buChar char="•"/>
              </a:pPr>
              <a:r>
                <a:rPr lang="en-US" sz="2700">
                  <a:solidFill>
                    <a:srgbClr val="000000"/>
                  </a:solidFill>
                  <a:latin typeface="Canva Sans"/>
                  <a:ea typeface="Canva Sans"/>
                  <a:cs typeface="Canva Sans"/>
                  <a:sym typeface="Canva Sans"/>
                </a:rPr>
                <a:t>Attendance tracking</a:t>
              </a:r>
            </a:p>
            <a:p>
              <a:pPr marL="582933" lvl="1" indent="-291467" algn="l">
                <a:lnSpc>
                  <a:spcPts val="4860"/>
                </a:lnSpc>
                <a:buFont typeface="Arial"/>
                <a:buChar char="•"/>
              </a:pPr>
              <a:r>
                <a:rPr lang="en-US" sz="2700">
                  <a:solidFill>
                    <a:srgbClr val="000000"/>
                  </a:solidFill>
                  <a:latin typeface="Canva Sans"/>
                  <a:ea typeface="Canva Sans"/>
                  <a:cs typeface="Canva Sans"/>
                  <a:sym typeface="Canva Sans"/>
                </a:rPr>
                <a:t>Test marks management.</a:t>
              </a:r>
            </a:p>
            <a:p>
              <a:pPr marL="582933" lvl="1" indent="-291467" algn="l">
                <a:lnSpc>
                  <a:spcPts val="4860"/>
                </a:lnSpc>
                <a:buFont typeface="Arial"/>
                <a:buChar char="•"/>
              </a:pPr>
              <a:r>
                <a:rPr lang="en-US" sz="2700">
                  <a:solidFill>
                    <a:srgbClr val="000000"/>
                  </a:solidFill>
                  <a:latin typeface="Canva Sans"/>
                  <a:ea typeface="Canva Sans"/>
                  <a:cs typeface="Canva Sans"/>
                  <a:sym typeface="Canva Sans"/>
                </a:rPr>
                <a:t>Monthly progress reports</a:t>
              </a:r>
            </a:p>
            <a:p>
              <a:pPr algn="l">
                <a:lnSpc>
                  <a:spcPts val="4860"/>
                </a:lnSpc>
              </a:pPr>
              <a:endParaRPr lang="en-US" sz="2700">
                <a:solidFill>
                  <a:srgbClr val="000000"/>
                </a:solidFill>
                <a:latin typeface="Canva Sans"/>
                <a:ea typeface="Canva Sans"/>
                <a:cs typeface="Canva Sans"/>
                <a:sym typeface="Canva Sans"/>
              </a:endParaRPr>
            </a:p>
          </p:txBody>
        </p:sp>
        <p:sp>
          <p:nvSpPr>
            <p:cNvPr id="28" name="Freeform 28"/>
            <p:cNvSpPr/>
            <p:nvPr/>
          </p:nvSpPr>
          <p:spPr>
            <a:xfrm>
              <a:off x="0" y="0"/>
              <a:ext cx="1711075" cy="1711075"/>
            </a:xfrm>
            <a:custGeom>
              <a:avLst/>
              <a:gdLst/>
              <a:ahLst/>
              <a:cxnLst/>
              <a:rect l="l" t="t" r="r" b="b"/>
              <a:pathLst>
                <a:path w="1711075" h="1711075">
                  <a:moveTo>
                    <a:pt x="0" y="0"/>
                  </a:moveTo>
                  <a:lnTo>
                    <a:pt x="1711075" y="0"/>
                  </a:lnTo>
                  <a:lnTo>
                    <a:pt x="1711075" y="1711075"/>
                  </a:lnTo>
                  <a:lnTo>
                    <a:pt x="0" y="17110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TextBox 29"/>
            <p:cNvSpPr txBox="1"/>
            <p:nvPr/>
          </p:nvSpPr>
          <p:spPr>
            <a:xfrm>
              <a:off x="0" y="516727"/>
              <a:ext cx="1711075" cy="817387"/>
            </a:xfrm>
            <a:prstGeom prst="rect">
              <a:avLst/>
            </a:prstGeom>
          </p:spPr>
          <p:txBody>
            <a:bodyPr lIns="0" tIns="0" rIns="0" bIns="0" rtlCol="0" anchor="t">
              <a:spAutoFit/>
            </a:bodyPr>
            <a:lstStyle/>
            <a:p>
              <a:pPr algn="ctr">
                <a:lnSpc>
                  <a:spcPts val="4678"/>
                </a:lnSpc>
                <a:spcBef>
                  <a:spcPct val="0"/>
                </a:spcBef>
              </a:pPr>
              <a:r>
                <a:rPr lang="en-US" sz="4214" b="1">
                  <a:solidFill>
                    <a:srgbClr val="000000"/>
                  </a:solidFill>
                  <a:latin typeface="DM Sans Bold"/>
                  <a:ea typeface="DM Sans Bold"/>
                  <a:cs typeface="DM Sans Bold"/>
                  <a:sym typeface="DM Sans Bold"/>
                </a:rPr>
                <a:t>6</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475884"/>
            <a:ext cx="1105633" cy="1105633"/>
          </a:xfrm>
          <a:custGeom>
            <a:avLst/>
            <a:gdLst/>
            <a:ahLst/>
            <a:cxnLst/>
            <a:rect l="l" t="t" r="r" b="b"/>
            <a:pathLst>
              <a:path w="1105633" h="1105633">
                <a:moveTo>
                  <a:pt x="0" y="0"/>
                </a:moveTo>
                <a:lnTo>
                  <a:pt x="1105633" y="0"/>
                </a:lnTo>
                <a:lnTo>
                  <a:pt x="1105633" y="1105632"/>
                </a:lnTo>
                <a:lnTo>
                  <a:pt x="0" y="11056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381047" y="776594"/>
            <a:ext cx="4281950" cy="957323"/>
          </a:xfrm>
          <a:prstGeom prst="rect">
            <a:avLst/>
          </a:prstGeom>
        </p:spPr>
        <p:txBody>
          <a:bodyPr lIns="0" tIns="0" rIns="0" bIns="0" rtlCol="0" anchor="t">
            <a:spAutoFit/>
          </a:bodyPr>
          <a:lstStyle/>
          <a:p>
            <a:pPr algn="l">
              <a:lnSpc>
                <a:spcPts val="3444"/>
              </a:lnSpc>
            </a:pPr>
            <a:r>
              <a:rPr lang="en-US" sz="3479" b="1">
                <a:solidFill>
                  <a:srgbClr val="FE6D73"/>
                </a:solidFill>
                <a:latin typeface="Kollektif Bold"/>
                <a:ea typeface="Kollektif Bold"/>
                <a:cs typeface="Kollektif Bold"/>
                <a:sym typeface="Kollektif Bold"/>
              </a:rPr>
              <a:t>WORK MODULES</a:t>
            </a:r>
          </a:p>
          <a:p>
            <a:pPr algn="l">
              <a:lnSpc>
                <a:spcPts val="3444"/>
              </a:lnSpc>
            </a:pPr>
            <a:endParaRPr lang="en-US" sz="3479" b="1">
              <a:solidFill>
                <a:srgbClr val="FE6D73"/>
              </a:solidFill>
              <a:latin typeface="Kollektif Bold"/>
              <a:ea typeface="Kollektif Bold"/>
              <a:cs typeface="Kollektif Bold"/>
              <a:sym typeface="Kollektif Bold"/>
            </a:endParaRPr>
          </a:p>
        </p:txBody>
      </p:sp>
      <p:grpSp>
        <p:nvGrpSpPr>
          <p:cNvPr id="4" name="Group 4"/>
          <p:cNvGrpSpPr/>
          <p:nvPr/>
        </p:nvGrpSpPr>
        <p:grpSpPr>
          <a:xfrm>
            <a:off x="9420495" y="2812548"/>
            <a:ext cx="6450056" cy="7043820"/>
            <a:chOff x="0" y="0"/>
            <a:chExt cx="1698780" cy="1855163"/>
          </a:xfrm>
        </p:grpSpPr>
        <p:sp>
          <p:nvSpPr>
            <p:cNvPr id="5" name="Freeform 5"/>
            <p:cNvSpPr/>
            <p:nvPr/>
          </p:nvSpPr>
          <p:spPr>
            <a:xfrm>
              <a:off x="0" y="0"/>
              <a:ext cx="1698780" cy="1855163"/>
            </a:xfrm>
            <a:custGeom>
              <a:avLst/>
              <a:gdLst/>
              <a:ahLst/>
              <a:cxnLst/>
              <a:rect l="l" t="t" r="r" b="b"/>
              <a:pathLst>
                <a:path w="1698780" h="1855163">
                  <a:moveTo>
                    <a:pt x="0" y="0"/>
                  </a:moveTo>
                  <a:lnTo>
                    <a:pt x="1698780" y="0"/>
                  </a:lnTo>
                  <a:lnTo>
                    <a:pt x="1698780" y="1855163"/>
                  </a:lnTo>
                  <a:lnTo>
                    <a:pt x="0" y="1855163"/>
                  </a:lnTo>
                  <a:close/>
                </a:path>
              </a:pathLst>
            </a:custGeom>
            <a:solidFill>
              <a:srgbClr val="F2E982"/>
            </a:solidFill>
          </p:spPr>
        </p:sp>
        <p:sp>
          <p:nvSpPr>
            <p:cNvPr id="6" name="TextBox 6"/>
            <p:cNvSpPr txBox="1"/>
            <p:nvPr/>
          </p:nvSpPr>
          <p:spPr>
            <a:xfrm>
              <a:off x="0" y="19050"/>
              <a:ext cx="1698780" cy="1836113"/>
            </a:xfrm>
            <a:prstGeom prst="rect">
              <a:avLst/>
            </a:prstGeom>
          </p:spPr>
          <p:txBody>
            <a:bodyPr lIns="50800" tIns="50800" rIns="50800" bIns="50800" rtlCol="0" anchor="ctr"/>
            <a:lstStyle/>
            <a:p>
              <a:pPr algn="ctr">
                <a:lnSpc>
                  <a:spcPts val="2553"/>
                </a:lnSpc>
              </a:pPr>
              <a:endParaRPr/>
            </a:p>
          </p:txBody>
        </p:sp>
      </p:grpSp>
      <p:sp>
        <p:nvSpPr>
          <p:cNvPr id="7" name="TextBox 7"/>
          <p:cNvSpPr txBox="1"/>
          <p:nvPr/>
        </p:nvSpPr>
        <p:spPr>
          <a:xfrm>
            <a:off x="9883954" y="3152219"/>
            <a:ext cx="3567004" cy="905454"/>
          </a:xfrm>
          <a:prstGeom prst="rect">
            <a:avLst/>
          </a:prstGeom>
        </p:spPr>
        <p:txBody>
          <a:bodyPr lIns="0" tIns="0" rIns="0" bIns="0" rtlCol="0" anchor="t">
            <a:spAutoFit/>
          </a:bodyPr>
          <a:lstStyle/>
          <a:p>
            <a:pPr algn="ctr">
              <a:lnSpc>
                <a:spcPts val="3640"/>
              </a:lnSpc>
            </a:pPr>
            <a:r>
              <a:rPr lang="en-US" sz="2600" b="1">
                <a:solidFill>
                  <a:srgbClr val="000000"/>
                </a:solidFill>
                <a:latin typeface="Canva Sans Bold"/>
                <a:ea typeface="Canva Sans Bold"/>
                <a:cs typeface="Canva Sans Bold"/>
                <a:sym typeface="Canva Sans Bold"/>
              </a:rPr>
              <a:t>Uploading Study Materials</a:t>
            </a:r>
          </a:p>
        </p:txBody>
      </p:sp>
      <p:sp>
        <p:nvSpPr>
          <p:cNvPr id="8" name="TextBox 8"/>
          <p:cNvSpPr txBox="1"/>
          <p:nvPr/>
        </p:nvSpPr>
        <p:spPr>
          <a:xfrm>
            <a:off x="9737367" y="4454941"/>
            <a:ext cx="5464940" cy="3097639"/>
          </a:xfrm>
          <a:prstGeom prst="rect">
            <a:avLst/>
          </a:prstGeom>
        </p:spPr>
        <p:txBody>
          <a:bodyPr lIns="0" tIns="0" rIns="0" bIns="0" rtlCol="0" anchor="t">
            <a:spAutoFit/>
          </a:bodyPr>
          <a:lstStyle/>
          <a:p>
            <a:pPr marL="582933" lvl="1" indent="-291467" algn="l">
              <a:lnSpc>
                <a:spcPts val="5022"/>
              </a:lnSpc>
              <a:buFont typeface="Arial"/>
              <a:buChar char="•"/>
            </a:pPr>
            <a:r>
              <a:rPr lang="en-US" sz="2700">
                <a:solidFill>
                  <a:srgbClr val="000000"/>
                </a:solidFill>
                <a:latin typeface="Canva Sans"/>
                <a:ea typeface="Canva Sans"/>
                <a:cs typeface="Canva Sans"/>
                <a:sym typeface="Canva Sans"/>
              </a:rPr>
              <a:t>Study material management</a:t>
            </a:r>
          </a:p>
          <a:p>
            <a:pPr marL="582933" lvl="1" indent="-291467" algn="l">
              <a:lnSpc>
                <a:spcPts val="5022"/>
              </a:lnSpc>
              <a:buFont typeface="Arial"/>
              <a:buChar char="•"/>
            </a:pPr>
            <a:r>
              <a:rPr lang="en-US" sz="2700">
                <a:solidFill>
                  <a:srgbClr val="000000"/>
                </a:solidFill>
                <a:latin typeface="Canva Sans"/>
                <a:ea typeface="Canva Sans"/>
                <a:cs typeface="Canva Sans"/>
                <a:sym typeface="Canva Sans"/>
              </a:rPr>
              <a:t>Material access (Students download materials)</a:t>
            </a:r>
          </a:p>
          <a:p>
            <a:pPr marL="582933" lvl="1" indent="-291467" algn="l">
              <a:lnSpc>
                <a:spcPts val="5022"/>
              </a:lnSpc>
              <a:buFont typeface="Arial"/>
              <a:buChar char="•"/>
            </a:pPr>
            <a:r>
              <a:rPr lang="en-US" sz="2700">
                <a:solidFill>
                  <a:srgbClr val="000000"/>
                </a:solidFill>
                <a:latin typeface="Canva Sans"/>
                <a:ea typeface="Canva Sans"/>
                <a:cs typeface="Canva Sans"/>
                <a:sym typeface="Canva Sans"/>
              </a:rPr>
              <a:t>Quiz creation and management</a:t>
            </a:r>
          </a:p>
        </p:txBody>
      </p:sp>
      <p:sp>
        <p:nvSpPr>
          <p:cNvPr id="9" name="Freeform 9"/>
          <p:cNvSpPr/>
          <p:nvPr/>
        </p:nvSpPr>
        <p:spPr>
          <a:xfrm>
            <a:off x="8819998" y="1919326"/>
            <a:ext cx="1207659" cy="1207659"/>
          </a:xfrm>
          <a:custGeom>
            <a:avLst/>
            <a:gdLst/>
            <a:ahLst/>
            <a:cxnLst/>
            <a:rect l="l" t="t" r="r" b="b"/>
            <a:pathLst>
              <a:path w="1207659" h="1207659">
                <a:moveTo>
                  <a:pt x="0" y="0"/>
                </a:moveTo>
                <a:lnTo>
                  <a:pt x="1207659" y="0"/>
                </a:lnTo>
                <a:lnTo>
                  <a:pt x="1207659" y="1207659"/>
                </a:lnTo>
                <a:lnTo>
                  <a:pt x="0" y="12076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8819998" y="2285711"/>
            <a:ext cx="1207659" cy="575219"/>
          </a:xfrm>
          <a:prstGeom prst="rect">
            <a:avLst/>
          </a:prstGeom>
        </p:spPr>
        <p:txBody>
          <a:bodyPr lIns="0" tIns="0" rIns="0" bIns="0" rtlCol="0" anchor="t">
            <a:spAutoFit/>
          </a:bodyPr>
          <a:lstStyle/>
          <a:p>
            <a:pPr algn="ctr">
              <a:lnSpc>
                <a:spcPts val="4402"/>
              </a:lnSpc>
              <a:spcBef>
                <a:spcPct val="0"/>
              </a:spcBef>
            </a:pPr>
            <a:r>
              <a:rPr lang="en-US" sz="3966" b="1">
                <a:solidFill>
                  <a:srgbClr val="000000"/>
                </a:solidFill>
                <a:latin typeface="DM Sans Bold"/>
                <a:ea typeface="DM Sans Bold"/>
                <a:cs typeface="DM Sans Bold"/>
                <a:sym typeface="DM Sans Bold"/>
              </a:rPr>
              <a:t>8</a:t>
            </a:r>
          </a:p>
        </p:txBody>
      </p:sp>
      <p:grpSp>
        <p:nvGrpSpPr>
          <p:cNvPr id="11" name="Group 11"/>
          <p:cNvGrpSpPr/>
          <p:nvPr/>
        </p:nvGrpSpPr>
        <p:grpSpPr>
          <a:xfrm>
            <a:off x="1901479" y="2812548"/>
            <a:ext cx="6342055" cy="7043820"/>
            <a:chOff x="0" y="0"/>
            <a:chExt cx="1670336" cy="1855163"/>
          </a:xfrm>
        </p:grpSpPr>
        <p:sp>
          <p:nvSpPr>
            <p:cNvPr id="12" name="Freeform 12"/>
            <p:cNvSpPr/>
            <p:nvPr/>
          </p:nvSpPr>
          <p:spPr>
            <a:xfrm>
              <a:off x="0" y="0"/>
              <a:ext cx="1670336" cy="1855163"/>
            </a:xfrm>
            <a:custGeom>
              <a:avLst/>
              <a:gdLst/>
              <a:ahLst/>
              <a:cxnLst/>
              <a:rect l="l" t="t" r="r" b="b"/>
              <a:pathLst>
                <a:path w="1670336" h="1855163">
                  <a:moveTo>
                    <a:pt x="0" y="0"/>
                  </a:moveTo>
                  <a:lnTo>
                    <a:pt x="1670336" y="0"/>
                  </a:lnTo>
                  <a:lnTo>
                    <a:pt x="1670336" y="1855163"/>
                  </a:lnTo>
                  <a:lnTo>
                    <a:pt x="0" y="1855163"/>
                  </a:lnTo>
                  <a:close/>
                </a:path>
              </a:pathLst>
            </a:custGeom>
            <a:solidFill>
              <a:srgbClr val="F2E982"/>
            </a:solidFill>
          </p:spPr>
        </p:sp>
        <p:sp>
          <p:nvSpPr>
            <p:cNvPr id="13" name="TextBox 13"/>
            <p:cNvSpPr txBox="1"/>
            <p:nvPr/>
          </p:nvSpPr>
          <p:spPr>
            <a:xfrm>
              <a:off x="0" y="19050"/>
              <a:ext cx="1670336" cy="1836113"/>
            </a:xfrm>
            <a:prstGeom prst="rect">
              <a:avLst/>
            </a:prstGeom>
          </p:spPr>
          <p:txBody>
            <a:bodyPr lIns="50800" tIns="50800" rIns="50800" bIns="50800" rtlCol="0" anchor="ctr"/>
            <a:lstStyle/>
            <a:p>
              <a:pPr algn="ctr">
                <a:lnSpc>
                  <a:spcPts val="2553"/>
                </a:lnSpc>
              </a:pPr>
              <a:endParaRPr/>
            </a:p>
          </p:txBody>
        </p:sp>
      </p:grpSp>
      <p:sp>
        <p:nvSpPr>
          <p:cNvPr id="14" name="TextBox 14"/>
          <p:cNvSpPr txBox="1"/>
          <p:nvPr/>
        </p:nvSpPr>
        <p:spPr>
          <a:xfrm>
            <a:off x="2738914" y="3111913"/>
            <a:ext cx="3130261" cy="905454"/>
          </a:xfrm>
          <a:prstGeom prst="rect">
            <a:avLst/>
          </a:prstGeom>
        </p:spPr>
        <p:txBody>
          <a:bodyPr lIns="0" tIns="0" rIns="0" bIns="0" rtlCol="0" anchor="t">
            <a:spAutoFit/>
          </a:bodyPr>
          <a:lstStyle/>
          <a:p>
            <a:pPr algn="ctr">
              <a:lnSpc>
                <a:spcPts val="3640"/>
              </a:lnSpc>
            </a:pPr>
            <a:r>
              <a:rPr lang="en-US" sz="2600" b="1">
                <a:solidFill>
                  <a:srgbClr val="000000"/>
                </a:solidFill>
                <a:latin typeface="Canva Sans Bold"/>
                <a:ea typeface="Canva Sans Bold"/>
                <a:cs typeface="Canva Sans Bold"/>
                <a:sym typeface="Canva Sans Bold"/>
              </a:rPr>
              <a:t>Timetable Management</a:t>
            </a:r>
          </a:p>
        </p:txBody>
      </p:sp>
      <p:sp>
        <p:nvSpPr>
          <p:cNvPr id="15" name="Freeform 15"/>
          <p:cNvSpPr/>
          <p:nvPr/>
        </p:nvSpPr>
        <p:spPr>
          <a:xfrm>
            <a:off x="1340512" y="1919326"/>
            <a:ext cx="1121934" cy="1121934"/>
          </a:xfrm>
          <a:custGeom>
            <a:avLst/>
            <a:gdLst/>
            <a:ahLst/>
            <a:cxnLst/>
            <a:rect l="l" t="t" r="r" b="b"/>
            <a:pathLst>
              <a:path w="1121934" h="1121934">
                <a:moveTo>
                  <a:pt x="0" y="0"/>
                </a:moveTo>
                <a:lnTo>
                  <a:pt x="1121934" y="0"/>
                </a:lnTo>
                <a:lnTo>
                  <a:pt x="1121934" y="1121934"/>
                </a:lnTo>
                <a:lnTo>
                  <a:pt x="0" y="11219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1340512" y="2271257"/>
            <a:ext cx="1121934" cy="522834"/>
          </a:xfrm>
          <a:prstGeom prst="rect">
            <a:avLst/>
          </a:prstGeom>
        </p:spPr>
        <p:txBody>
          <a:bodyPr lIns="0" tIns="0" rIns="0" bIns="0" rtlCol="0" anchor="t">
            <a:spAutoFit/>
          </a:bodyPr>
          <a:lstStyle/>
          <a:p>
            <a:pPr algn="ctr">
              <a:lnSpc>
                <a:spcPts val="4090"/>
              </a:lnSpc>
              <a:spcBef>
                <a:spcPct val="0"/>
              </a:spcBef>
            </a:pPr>
            <a:r>
              <a:rPr lang="en-US" sz="3684" b="1">
                <a:solidFill>
                  <a:srgbClr val="000000"/>
                </a:solidFill>
                <a:latin typeface="DM Sans Bold"/>
                <a:ea typeface="DM Sans Bold"/>
                <a:cs typeface="DM Sans Bold"/>
                <a:sym typeface="DM Sans Bold"/>
              </a:rPr>
              <a:t>7</a:t>
            </a:r>
          </a:p>
        </p:txBody>
      </p:sp>
      <p:sp>
        <p:nvSpPr>
          <p:cNvPr id="17" name="TextBox 17"/>
          <p:cNvSpPr txBox="1"/>
          <p:nvPr/>
        </p:nvSpPr>
        <p:spPr>
          <a:xfrm>
            <a:off x="2182424" y="4787598"/>
            <a:ext cx="5240161" cy="2964043"/>
          </a:xfrm>
          <a:prstGeom prst="rect">
            <a:avLst/>
          </a:prstGeom>
        </p:spPr>
        <p:txBody>
          <a:bodyPr lIns="0" tIns="0" rIns="0" bIns="0" rtlCol="0" anchor="t">
            <a:spAutoFit/>
          </a:bodyPr>
          <a:lstStyle/>
          <a:p>
            <a:pPr marL="582933" lvl="1" indent="-291467" algn="l">
              <a:lnSpc>
                <a:spcPts val="4725"/>
              </a:lnSpc>
              <a:buFont typeface="Arial"/>
              <a:buChar char="•"/>
            </a:pPr>
            <a:r>
              <a:rPr lang="en-US" sz="2700">
                <a:solidFill>
                  <a:srgbClr val="000000"/>
                </a:solidFill>
                <a:latin typeface="Canva Sans"/>
                <a:ea typeface="Canva Sans"/>
                <a:cs typeface="Canva Sans"/>
                <a:sym typeface="Canva Sans"/>
              </a:rPr>
              <a:t>Admin manages  class schedules for students and teachers.</a:t>
            </a:r>
          </a:p>
          <a:p>
            <a:pPr marL="582933" lvl="1" indent="-291467" algn="l">
              <a:lnSpc>
                <a:spcPts val="4725"/>
              </a:lnSpc>
              <a:buFont typeface="Arial"/>
              <a:buChar char="•"/>
            </a:pPr>
            <a:r>
              <a:rPr lang="en-US" sz="2700">
                <a:solidFill>
                  <a:srgbClr val="000000"/>
                </a:solidFill>
                <a:latin typeface="Canva Sans"/>
                <a:ea typeface="Canva Sans"/>
                <a:cs typeface="Canva Sans"/>
                <a:sym typeface="Canva Sans"/>
              </a:rPr>
              <a:t>Timetable visibility on respective dashboards..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672" y="-45227"/>
            <a:ext cx="18762672" cy="1812765"/>
            <a:chOff x="0" y="0"/>
            <a:chExt cx="4941609" cy="477436"/>
          </a:xfrm>
        </p:grpSpPr>
        <p:sp>
          <p:nvSpPr>
            <p:cNvPr id="3" name="Freeform 3"/>
            <p:cNvSpPr/>
            <p:nvPr/>
          </p:nvSpPr>
          <p:spPr>
            <a:xfrm>
              <a:off x="0" y="0"/>
              <a:ext cx="4941609" cy="477436"/>
            </a:xfrm>
            <a:custGeom>
              <a:avLst/>
              <a:gdLst/>
              <a:ahLst/>
              <a:cxnLst/>
              <a:rect l="l" t="t" r="r" b="b"/>
              <a:pathLst>
                <a:path w="4941609" h="477436">
                  <a:moveTo>
                    <a:pt x="0" y="0"/>
                  </a:moveTo>
                  <a:lnTo>
                    <a:pt x="4941609" y="0"/>
                  </a:lnTo>
                  <a:lnTo>
                    <a:pt x="4941609" y="477436"/>
                  </a:lnTo>
                  <a:lnTo>
                    <a:pt x="0" y="477436"/>
                  </a:lnTo>
                  <a:close/>
                </a:path>
              </a:pathLst>
            </a:custGeom>
            <a:solidFill>
              <a:srgbClr val="EFEFEF"/>
            </a:solidFill>
          </p:spPr>
        </p:sp>
        <p:sp>
          <p:nvSpPr>
            <p:cNvPr id="4" name="TextBox 4"/>
            <p:cNvSpPr txBox="1"/>
            <p:nvPr/>
          </p:nvSpPr>
          <p:spPr>
            <a:xfrm>
              <a:off x="0" y="19050"/>
              <a:ext cx="4941609" cy="458386"/>
            </a:xfrm>
            <a:prstGeom prst="rect">
              <a:avLst/>
            </a:prstGeom>
          </p:spPr>
          <p:txBody>
            <a:bodyPr lIns="50800" tIns="50800" rIns="50800" bIns="50800" rtlCol="0" anchor="ctr"/>
            <a:lstStyle/>
            <a:p>
              <a:pPr algn="ctr">
                <a:lnSpc>
                  <a:spcPts val="2553"/>
                </a:lnSpc>
              </a:pPr>
              <a:endParaRPr/>
            </a:p>
          </p:txBody>
        </p:sp>
      </p:grpSp>
      <p:sp>
        <p:nvSpPr>
          <p:cNvPr id="5" name="Freeform 5"/>
          <p:cNvSpPr/>
          <p:nvPr/>
        </p:nvSpPr>
        <p:spPr>
          <a:xfrm>
            <a:off x="227651" y="2043638"/>
            <a:ext cx="8631388" cy="4527527"/>
          </a:xfrm>
          <a:custGeom>
            <a:avLst/>
            <a:gdLst/>
            <a:ahLst/>
            <a:cxnLst/>
            <a:rect l="l" t="t" r="r" b="b"/>
            <a:pathLst>
              <a:path w="8631388" h="4527527">
                <a:moveTo>
                  <a:pt x="0" y="0"/>
                </a:moveTo>
                <a:lnTo>
                  <a:pt x="8631388" y="0"/>
                </a:lnTo>
                <a:lnTo>
                  <a:pt x="8631388" y="4527527"/>
                </a:lnTo>
                <a:lnTo>
                  <a:pt x="0" y="4527527"/>
                </a:lnTo>
                <a:lnTo>
                  <a:pt x="0" y="0"/>
                </a:lnTo>
                <a:close/>
              </a:path>
            </a:pathLst>
          </a:custGeom>
          <a:blipFill>
            <a:blip r:embed="rId2"/>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id="7" name="Freeform 7"/>
          <p:cNvSpPr/>
          <p:nvPr/>
        </p:nvSpPr>
        <p:spPr>
          <a:xfrm>
            <a:off x="8868564" y="5298105"/>
            <a:ext cx="9115720" cy="4792111"/>
          </a:xfrm>
          <a:custGeom>
            <a:avLst/>
            <a:gdLst/>
            <a:ahLst/>
            <a:cxnLst/>
            <a:rect l="l" t="t" r="r" b="b"/>
            <a:pathLst>
              <a:path w="9115720" h="4792111">
                <a:moveTo>
                  <a:pt x="0" y="0"/>
                </a:moveTo>
                <a:lnTo>
                  <a:pt x="9115720" y="0"/>
                </a:lnTo>
                <a:lnTo>
                  <a:pt x="9115720" y="4792112"/>
                </a:lnTo>
                <a:lnTo>
                  <a:pt x="0" y="4792112"/>
                </a:lnTo>
                <a:lnTo>
                  <a:pt x="0" y="0"/>
                </a:lnTo>
                <a:close/>
              </a:path>
            </a:pathLst>
          </a:custGeom>
          <a:blipFill>
            <a:blip r:embed="rId3"/>
            <a:stretch>
              <a:fillRect/>
            </a:stretch>
          </a:blipFill>
        </p:spPr>
      </p:sp>
      <p:sp>
        <p:nvSpPr>
          <p:cNvPr id="8" name="AutoShape 8"/>
          <p:cNvSpPr/>
          <p:nvPr/>
        </p:nvSpPr>
        <p:spPr>
          <a:xfrm flipV="1">
            <a:off x="10645719" y="8917177"/>
            <a:ext cx="7566081" cy="0"/>
          </a:xfrm>
          <a:prstGeom prst="line">
            <a:avLst/>
          </a:prstGeom>
          <a:ln w="38100" cap="flat">
            <a:solidFill>
              <a:srgbClr val="00BF63"/>
            </a:solidFill>
            <a:prstDash val="solid"/>
            <a:headEnd type="none" w="sm" len="sm"/>
            <a:tailEnd type="none" w="sm" len="sm"/>
          </a:ln>
        </p:spPr>
      </p:sp>
      <p:sp>
        <p:nvSpPr>
          <p:cNvPr id="9" name="AutoShape 9"/>
          <p:cNvSpPr/>
          <p:nvPr/>
        </p:nvSpPr>
        <p:spPr>
          <a:xfrm flipV="1">
            <a:off x="10636194" y="9277350"/>
            <a:ext cx="7566081" cy="0"/>
          </a:xfrm>
          <a:prstGeom prst="line">
            <a:avLst/>
          </a:prstGeom>
          <a:ln w="38100" cap="flat">
            <a:solidFill>
              <a:srgbClr val="00BF63"/>
            </a:solidFill>
            <a:prstDash val="solid"/>
            <a:headEnd type="none" w="sm" len="sm"/>
            <a:tailEnd type="none" w="sm" len="sm"/>
          </a:ln>
        </p:spPr>
      </p:sp>
      <p:sp>
        <p:nvSpPr>
          <p:cNvPr id="10" name="TextBox 10"/>
          <p:cNvSpPr txBox="1"/>
          <p:nvPr/>
        </p:nvSpPr>
        <p:spPr>
          <a:xfrm>
            <a:off x="10437128" y="3271837"/>
            <a:ext cx="4718663" cy="464820"/>
          </a:xfrm>
          <a:prstGeom prst="rect">
            <a:avLst/>
          </a:prstGeom>
        </p:spPr>
        <p:txBody>
          <a:bodyPr lIns="0" tIns="0" rIns="0" bIns="0" rtlCol="0" anchor="t">
            <a:spAutoFit/>
          </a:bodyPr>
          <a:lstStyle/>
          <a:p>
            <a:pPr algn="ctr">
              <a:lnSpc>
                <a:spcPts val="3780"/>
              </a:lnSpc>
              <a:spcBef>
                <a:spcPct val="0"/>
              </a:spcBef>
            </a:pPr>
            <a:r>
              <a:rPr lang="en-US" sz="2700">
                <a:solidFill>
                  <a:srgbClr val="000000"/>
                </a:solidFill>
                <a:latin typeface="Canva Sans"/>
                <a:ea typeface="Canva Sans"/>
                <a:cs typeface="Canva Sans"/>
                <a:sym typeface="Canva Sans"/>
              </a:rPr>
              <a:t>Visitor submits enquiry form</a:t>
            </a:r>
          </a:p>
        </p:txBody>
      </p:sp>
      <p:sp>
        <p:nvSpPr>
          <p:cNvPr id="11" name="TextBox 11"/>
          <p:cNvSpPr txBox="1"/>
          <p:nvPr/>
        </p:nvSpPr>
        <p:spPr>
          <a:xfrm>
            <a:off x="1691903" y="7981434"/>
            <a:ext cx="4754247" cy="464820"/>
          </a:xfrm>
          <a:prstGeom prst="rect">
            <a:avLst/>
          </a:prstGeom>
        </p:spPr>
        <p:txBody>
          <a:bodyPr lIns="0" tIns="0" rIns="0" bIns="0" rtlCol="0" anchor="t">
            <a:spAutoFit/>
          </a:bodyPr>
          <a:lstStyle/>
          <a:p>
            <a:pPr algn="ctr">
              <a:lnSpc>
                <a:spcPts val="3780"/>
              </a:lnSpc>
              <a:spcBef>
                <a:spcPct val="0"/>
              </a:spcBef>
            </a:pPr>
            <a:r>
              <a:rPr lang="en-US" sz="2700">
                <a:solidFill>
                  <a:srgbClr val="000000"/>
                </a:solidFill>
                <a:latin typeface="Canva Sans"/>
                <a:ea typeface="Canva Sans"/>
                <a:cs typeface="Canva Sans"/>
                <a:sym typeface="Canva Sans"/>
              </a:rPr>
              <a:t>Admin responds to enquiries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8998" y="2526934"/>
            <a:ext cx="11044001" cy="5233131"/>
          </a:xfrm>
          <a:custGeom>
            <a:avLst/>
            <a:gdLst/>
            <a:ahLst/>
            <a:cxnLst/>
            <a:rect l="l" t="t" r="r" b="b"/>
            <a:pathLst>
              <a:path w="11044001" h="5233131">
                <a:moveTo>
                  <a:pt x="0" y="0"/>
                </a:moveTo>
                <a:lnTo>
                  <a:pt x="11044001" y="0"/>
                </a:lnTo>
                <a:lnTo>
                  <a:pt x="11044001" y="5233132"/>
                </a:lnTo>
                <a:lnTo>
                  <a:pt x="0" y="5233132"/>
                </a:lnTo>
                <a:lnTo>
                  <a:pt x="0" y="0"/>
                </a:lnTo>
                <a:close/>
              </a:path>
            </a:pathLst>
          </a:custGeom>
          <a:blipFill>
            <a:blip r:embed="rId2"/>
            <a:stretch>
              <a:fillRect/>
            </a:stretch>
          </a:blipFill>
        </p:spPr>
      </p:sp>
      <p:sp>
        <p:nvSpPr>
          <p:cNvPr id="3" name="Freeform 3"/>
          <p:cNvSpPr/>
          <p:nvPr/>
        </p:nvSpPr>
        <p:spPr>
          <a:xfrm>
            <a:off x="12179311" y="2286358"/>
            <a:ext cx="4695674" cy="5714283"/>
          </a:xfrm>
          <a:custGeom>
            <a:avLst/>
            <a:gdLst/>
            <a:ahLst/>
            <a:cxnLst/>
            <a:rect l="l" t="t" r="r" b="b"/>
            <a:pathLst>
              <a:path w="4695674" h="5714283">
                <a:moveTo>
                  <a:pt x="0" y="0"/>
                </a:moveTo>
                <a:lnTo>
                  <a:pt x="4695674" y="0"/>
                </a:lnTo>
                <a:lnTo>
                  <a:pt x="4695674" y="5714284"/>
                </a:lnTo>
                <a:lnTo>
                  <a:pt x="0" y="5714284"/>
                </a:lnTo>
                <a:lnTo>
                  <a:pt x="0" y="0"/>
                </a:lnTo>
                <a:close/>
              </a:path>
            </a:pathLst>
          </a:custGeom>
          <a:blipFill>
            <a:blip r:embed="rId3"/>
            <a:stretch>
              <a:fillRect t="-82609"/>
            </a:stretch>
          </a:blipFill>
        </p:spPr>
      </p:sp>
      <p:sp>
        <p:nvSpPr>
          <p:cNvPr id="4" name="TextBox 4"/>
          <p:cNvSpPr txBox="1"/>
          <p:nvPr/>
        </p:nvSpPr>
        <p:spPr>
          <a:xfrm>
            <a:off x="2672482" y="1821539"/>
            <a:ext cx="3882790" cy="464820"/>
          </a:xfrm>
          <a:prstGeom prst="rect">
            <a:avLst/>
          </a:prstGeom>
        </p:spPr>
        <p:txBody>
          <a:bodyPr lIns="0" tIns="0" rIns="0" bIns="0" rtlCol="0" anchor="t">
            <a:spAutoFit/>
          </a:bodyPr>
          <a:lstStyle/>
          <a:p>
            <a:pPr algn="ctr">
              <a:lnSpc>
                <a:spcPts val="3780"/>
              </a:lnSpc>
              <a:spcBef>
                <a:spcPct val="0"/>
              </a:spcBef>
            </a:pPr>
            <a:r>
              <a:rPr lang="en-US" sz="2700">
                <a:solidFill>
                  <a:srgbClr val="000000"/>
                </a:solidFill>
                <a:latin typeface="Canva Sans"/>
                <a:ea typeface="Canva Sans"/>
                <a:cs typeface="Canva Sans"/>
                <a:sym typeface="Canva Sans"/>
              </a:rPr>
              <a:t>Mode of enquiry : Email</a:t>
            </a:r>
          </a:p>
        </p:txBody>
      </p:sp>
      <p:sp>
        <p:nvSpPr>
          <p:cNvPr id="5" name="TextBox 5"/>
          <p:cNvSpPr txBox="1"/>
          <p:nvPr/>
        </p:nvSpPr>
        <p:spPr>
          <a:xfrm>
            <a:off x="12673291" y="1617704"/>
            <a:ext cx="3707714" cy="464820"/>
          </a:xfrm>
          <a:prstGeom prst="rect">
            <a:avLst/>
          </a:prstGeom>
        </p:spPr>
        <p:txBody>
          <a:bodyPr lIns="0" tIns="0" rIns="0" bIns="0" rtlCol="0" anchor="t">
            <a:spAutoFit/>
          </a:bodyPr>
          <a:lstStyle/>
          <a:p>
            <a:pPr algn="ctr">
              <a:lnSpc>
                <a:spcPts val="3780"/>
              </a:lnSpc>
              <a:spcBef>
                <a:spcPct val="0"/>
              </a:spcBef>
            </a:pPr>
            <a:r>
              <a:rPr lang="en-US" sz="2700">
                <a:solidFill>
                  <a:srgbClr val="000000"/>
                </a:solidFill>
                <a:latin typeface="Canva Sans"/>
                <a:ea typeface="Canva Sans"/>
                <a:cs typeface="Canva Sans"/>
                <a:sym typeface="Canva Sans"/>
              </a:rPr>
              <a:t>Mode of enquiry : SMS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73885" y="291150"/>
            <a:ext cx="8670115" cy="4562648"/>
          </a:xfrm>
          <a:custGeom>
            <a:avLst/>
            <a:gdLst/>
            <a:ahLst/>
            <a:cxnLst/>
            <a:rect l="l" t="t" r="r" b="b"/>
            <a:pathLst>
              <a:path w="8670115" h="4562648">
                <a:moveTo>
                  <a:pt x="0" y="0"/>
                </a:moveTo>
                <a:lnTo>
                  <a:pt x="8670115" y="0"/>
                </a:lnTo>
                <a:lnTo>
                  <a:pt x="8670115" y="4562648"/>
                </a:lnTo>
                <a:lnTo>
                  <a:pt x="0" y="4562648"/>
                </a:lnTo>
                <a:lnTo>
                  <a:pt x="0" y="0"/>
                </a:lnTo>
                <a:close/>
              </a:path>
            </a:pathLst>
          </a:custGeom>
          <a:blipFill>
            <a:blip r:embed="rId2"/>
            <a:stretch>
              <a:fillRect/>
            </a:stretch>
          </a:blipFill>
        </p:spPr>
      </p:sp>
      <p:sp>
        <p:nvSpPr>
          <p:cNvPr id="3" name="Freeform 3"/>
          <p:cNvSpPr/>
          <p:nvPr/>
        </p:nvSpPr>
        <p:spPr>
          <a:xfrm>
            <a:off x="7773454" y="4316515"/>
            <a:ext cx="10125121" cy="5303032"/>
          </a:xfrm>
          <a:custGeom>
            <a:avLst/>
            <a:gdLst/>
            <a:ahLst/>
            <a:cxnLst/>
            <a:rect l="l" t="t" r="r" b="b"/>
            <a:pathLst>
              <a:path w="10125121" h="5303032">
                <a:moveTo>
                  <a:pt x="0" y="0"/>
                </a:moveTo>
                <a:lnTo>
                  <a:pt x="10125121" y="0"/>
                </a:lnTo>
                <a:lnTo>
                  <a:pt x="10125121" y="5303032"/>
                </a:lnTo>
                <a:lnTo>
                  <a:pt x="0" y="5303032"/>
                </a:lnTo>
                <a:lnTo>
                  <a:pt x="0" y="0"/>
                </a:lnTo>
                <a:close/>
              </a:path>
            </a:pathLst>
          </a:custGeom>
          <a:blipFill>
            <a:blip r:embed="rId3"/>
            <a:stretch>
              <a:fillRect/>
            </a:stretch>
          </a:blipFill>
        </p:spPr>
      </p:sp>
      <p:sp>
        <p:nvSpPr>
          <p:cNvPr id="4" name="TextBox 4"/>
          <p:cNvSpPr txBox="1"/>
          <p:nvPr/>
        </p:nvSpPr>
        <p:spPr>
          <a:xfrm>
            <a:off x="11487497" y="2107655"/>
            <a:ext cx="2697036" cy="464820"/>
          </a:xfrm>
          <a:prstGeom prst="rect">
            <a:avLst/>
          </a:prstGeom>
        </p:spPr>
        <p:txBody>
          <a:bodyPr lIns="0" tIns="0" rIns="0" bIns="0" rtlCol="0" anchor="t">
            <a:spAutoFit/>
          </a:bodyPr>
          <a:lstStyle/>
          <a:p>
            <a:pPr algn="ctr">
              <a:lnSpc>
                <a:spcPts val="3780"/>
              </a:lnSpc>
              <a:spcBef>
                <a:spcPct val="0"/>
              </a:spcBef>
            </a:pPr>
            <a:r>
              <a:rPr lang="en-US" sz="2700">
                <a:solidFill>
                  <a:srgbClr val="000000"/>
                </a:solidFill>
                <a:latin typeface="Canva Sans"/>
                <a:ea typeface="Canva Sans"/>
                <a:cs typeface="Canva Sans"/>
                <a:sym typeface="Canva Sans"/>
              </a:rPr>
              <a:t>OTP Verification</a:t>
            </a:r>
          </a:p>
        </p:txBody>
      </p:sp>
      <p:sp>
        <p:nvSpPr>
          <p:cNvPr id="5" name="TextBox 5"/>
          <p:cNvSpPr txBox="1"/>
          <p:nvPr/>
        </p:nvSpPr>
        <p:spPr>
          <a:xfrm>
            <a:off x="3424514" y="6910881"/>
            <a:ext cx="966030" cy="497894"/>
          </a:xfrm>
          <a:prstGeom prst="rect">
            <a:avLst/>
          </a:prstGeom>
        </p:spPr>
        <p:txBody>
          <a:bodyPr lIns="0" tIns="0" rIns="0" bIns="0" rtlCol="0" anchor="t">
            <a:spAutoFit/>
          </a:bodyPr>
          <a:lstStyle/>
          <a:p>
            <a:pPr algn="ctr">
              <a:lnSpc>
                <a:spcPts val="4060"/>
              </a:lnSpc>
              <a:spcBef>
                <a:spcPct val="0"/>
              </a:spcBef>
            </a:pPr>
            <a:r>
              <a:rPr lang="en-US" sz="2900">
                <a:solidFill>
                  <a:srgbClr val="000000"/>
                </a:solidFill>
                <a:latin typeface="Canva Sans"/>
                <a:ea typeface="Canva Sans"/>
                <a:cs typeface="Canva Sans"/>
                <a:sym typeface="Canva Sans"/>
              </a:rPr>
              <a:t>Login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802451" y="326358"/>
            <a:ext cx="9118880" cy="4787412"/>
          </a:xfrm>
          <a:custGeom>
            <a:avLst/>
            <a:gdLst/>
            <a:ahLst/>
            <a:cxnLst/>
            <a:rect l="l" t="t" r="r" b="b"/>
            <a:pathLst>
              <a:path w="9118880" h="4787412">
                <a:moveTo>
                  <a:pt x="0" y="0"/>
                </a:moveTo>
                <a:lnTo>
                  <a:pt x="9118881" y="0"/>
                </a:lnTo>
                <a:lnTo>
                  <a:pt x="9118881" y="4787412"/>
                </a:lnTo>
                <a:lnTo>
                  <a:pt x="0" y="4787412"/>
                </a:lnTo>
                <a:lnTo>
                  <a:pt x="0" y="0"/>
                </a:lnTo>
                <a:close/>
              </a:path>
            </a:pathLst>
          </a:custGeom>
          <a:blipFill>
            <a:blip r:embed="rId2"/>
            <a:stretch>
              <a:fillRect/>
            </a:stretch>
          </a:blipFill>
        </p:spPr>
      </p:sp>
      <p:sp>
        <p:nvSpPr>
          <p:cNvPr id="3" name="Freeform 3"/>
          <p:cNvSpPr/>
          <p:nvPr/>
        </p:nvSpPr>
        <p:spPr>
          <a:xfrm>
            <a:off x="346960" y="5646792"/>
            <a:ext cx="8161365" cy="4305120"/>
          </a:xfrm>
          <a:custGeom>
            <a:avLst/>
            <a:gdLst/>
            <a:ahLst/>
            <a:cxnLst/>
            <a:rect l="l" t="t" r="r" b="b"/>
            <a:pathLst>
              <a:path w="8161365" h="4305120">
                <a:moveTo>
                  <a:pt x="0" y="0"/>
                </a:moveTo>
                <a:lnTo>
                  <a:pt x="8161365" y="0"/>
                </a:lnTo>
                <a:lnTo>
                  <a:pt x="8161365" y="4305120"/>
                </a:lnTo>
                <a:lnTo>
                  <a:pt x="0" y="4305120"/>
                </a:lnTo>
                <a:lnTo>
                  <a:pt x="0" y="0"/>
                </a:lnTo>
                <a:close/>
              </a:path>
            </a:pathLst>
          </a:custGeom>
          <a:blipFill>
            <a:blip r:embed="rId3"/>
            <a:stretch>
              <a:fillRect/>
            </a:stretch>
          </a:blipFill>
        </p:spPr>
      </p:sp>
      <p:sp>
        <p:nvSpPr>
          <p:cNvPr id="4" name="Freeform 4"/>
          <p:cNvSpPr/>
          <p:nvPr/>
        </p:nvSpPr>
        <p:spPr>
          <a:xfrm>
            <a:off x="10040593" y="5814524"/>
            <a:ext cx="7880738" cy="4137388"/>
          </a:xfrm>
          <a:custGeom>
            <a:avLst/>
            <a:gdLst/>
            <a:ahLst/>
            <a:cxnLst/>
            <a:rect l="l" t="t" r="r" b="b"/>
            <a:pathLst>
              <a:path w="7880738" h="4137388">
                <a:moveTo>
                  <a:pt x="0" y="0"/>
                </a:moveTo>
                <a:lnTo>
                  <a:pt x="7880739" y="0"/>
                </a:lnTo>
                <a:lnTo>
                  <a:pt x="7880739" y="4137388"/>
                </a:lnTo>
                <a:lnTo>
                  <a:pt x="0" y="4137388"/>
                </a:lnTo>
                <a:lnTo>
                  <a:pt x="0" y="0"/>
                </a:lnTo>
                <a:close/>
              </a:path>
            </a:pathLst>
          </a:custGeom>
          <a:blipFill>
            <a:blip r:embed="rId4"/>
            <a:stretch>
              <a:fillRect/>
            </a:stretch>
          </a:blipFill>
        </p:spPr>
      </p:sp>
      <p:grpSp>
        <p:nvGrpSpPr>
          <p:cNvPr id="5" name="Group 5"/>
          <p:cNvGrpSpPr/>
          <p:nvPr/>
        </p:nvGrpSpPr>
        <p:grpSpPr>
          <a:xfrm>
            <a:off x="8593670" y="7337123"/>
            <a:ext cx="1176861" cy="588430"/>
            <a:chOff x="0" y="0"/>
            <a:chExt cx="812800" cy="406400"/>
          </a:xfrm>
        </p:grpSpPr>
        <p:sp>
          <p:nvSpPr>
            <p:cNvPr id="6" name="Freeform 6"/>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D5788B"/>
            </a:solidFill>
          </p:spPr>
        </p:sp>
        <p:sp>
          <p:nvSpPr>
            <p:cNvPr id="7" name="TextBox 7"/>
            <p:cNvSpPr txBox="1"/>
            <p:nvPr/>
          </p:nvSpPr>
          <p:spPr>
            <a:xfrm>
              <a:off x="177800" y="-47625"/>
              <a:ext cx="558800" cy="454025"/>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1028700" y="914400"/>
            <a:ext cx="3815683" cy="1953368"/>
          </a:xfrm>
          <a:prstGeom prst="rect">
            <a:avLst/>
          </a:prstGeom>
        </p:spPr>
        <p:txBody>
          <a:bodyPr lIns="0" tIns="0" rIns="0" bIns="0" rtlCol="0" anchor="t">
            <a:spAutoFit/>
          </a:bodyPr>
          <a:lstStyle/>
          <a:p>
            <a:pPr algn="l">
              <a:lnSpc>
                <a:spcPts val="7840"/>
              </a:lnSpc>
            </a:pPr>
            <a:r>
              <a:rPr lang="en-US" sz="5600" b="1">
                <a:solidFill>
                  <a:srgbClr val="000000"/>
                </a:solidFill>
                <a:latin typeface="Canva Sans Bold"/>
                <a:ea typeface="Canva Sans Bold"/>
                <a:cs typeface="Canva Sans Bold"/>
                <a:sym typeface="Canva Sans Bold"/>
              </a:rPr>
              <a:t>Admin </a:t>
            </a:r>
          </a:p>
          <a:p>
            <a:pPr algn="l">
              <a:lnSpc>
                <a:spcPts val="7840"/>
              </a:lnSpc>
            </a:pPr>
            <a:r>
              <a:rPr lang="en-US" sz="5600" b="1">
                <a:solidFill>
                  <a:srgbClr val="000000"/>
                </a:solidFill>
                <a:latin typeface="Canva Sans Bold"/>
                <a:ea typeface="Canva Sans Bold"/>
                <a:cs typeface="Canva Sans Bold"/>
                <a:sym typeface="Canva Sans Bold"/>
              </a:rPr>
              <a:t>Dashboard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28016" y="390107"/>
            <a:ext cx="8450476" cy="4753393"/>
          </a:xfrm>
          <a:custGeom>
            <a:avLst/>
            <a:gdLst/>
            <a:ahLst/>
            <a:cxnLst/>
            <a:rect l="l" t="t" r="r" b="b"/>
            <a:pathLst>
              <a:path w="8450476" h="4753393">
                <a:moveTo>
                  <a:pt x="0" y="0"/>
                </a:moveTo>
                <a:lnTo>
                  <a:pt x="8450476" y="0"/>
                </a:lnTo>
                <a:lnTo>
                  <a:pt x="8450476" y="4753393"/>
                </a:lnTo>
                <a:lnTo>
                  <a:pt x="0" y="4753393"/>
                </a:lnTo>
                <a:lnTo>
                  <a:pt x="0" y="0"/>
                </a:lnTo>
                <a:close/>
              </a:path>
            </a:pathLst>
          </a:custGeom>
          <a:blipFill>
            <a:blip r:embed="rId2"/>
            <a:stretch>
              <a:fillRect/>
            </a:stretch>
          </a:blipFill>
        </p:spPr>
      </p:sp>
      <p:sp>
        <p:nvSpPr>
          <p:cNvPr id="3" name="Freeform 3"/>
          <p:cNvSpPr/>
          <p:nvPr/>
        </p:nvSpPr>
        <p:spPr>
          <a:xfrm>
            <a:off x="693524" y="5487107"/>
            <a:ext cx="8439656" cy="4441369"/>
          </a:xfrm>
          <a:custGeom>
            <a:avLst/>
            <a:gdLst/>
            <a:ahLst/>
            <a:cxnLst/>
            <a:rect l="l" t="t" r="r" b="b"/>
            <a:pathLst>
              <a:path w="8439656" h="4441369">
                <a:moveTo>
                  <a:pt x="0" y="0"/>
                </a:moveTo>
                <a:lnTo>
                  <a:pt x="8439655" y="0"/>
                </a:lnTo>
                <a:lnTo>
                  <a:pt x="8439655" y="4441369"/>
                </a:lnTo>
                <a:lnTo>
                  <a:pt x="0" y="4441369"/>
                </a:lnTo>
                <a:lnTo>
                  <a:pt x="0" y="0"/>
                </a:lnTo>
                <a:close/>
              </a:path>
            </a:pathLst>
          </a:custGeom>
          <a:blipFill>
            <a:blip r:embed="rId3"/>
            <a:stretch>
              <a:fillRect/>
            </a:stretch>
          </a:blipFill>
        </p:spPr>
      </p:sp>
      <p:sp>
        <p:nvSpPr>
          <p:cNvPr id="4" name="Freeform 4"/>
          <p:cNvSpPr/>
          <p:nvPr/>
        </p:nvSpPr>
        <p:spPr>
          <a:xfrm>
            <a:off x="9678740" y="5487107"/>
            <a:ext cx="8399752" cy="4441369"/>
          </a:xfrm>
          <a:custGeom>
            <a:avLst/>
            <a:gdLst/>
            <a:ahLst/>
            <a:cxnLst/>
            <a:rect l="l" t="t" r="r" b="b"/>
            <a:pathLst>
              <a:path w="8399752" h="4441369">
                <a:moveTo>
                  <a:pt x="0" y="0"/>
                </a:moveTo>
                <a:lnTo>
                  <a:pt x="8399752" y="0"/>
                </a:lnTo>
                <a:lnTo>
                  <a:pt x="8399752" y="4441369"/>
                </a:lnTo>
                <a:lnTo>
                  <a:pt x="0" y="4441369"/>
                </a:lnTo>
                <a:lnTo>
                  <a:pt x="0" y="0"/>
                </a:lnTo>
                <a:close/>
              </a:path>
            </a:pathLst>
          </a:custGeom>
          <a:blipFill>
            <a:blip r:embed="rId4"/>
            <a:stretch>
              <a:fillRect/>
            </a:stretch>
          </a:blipFill>
        </p:spPr>
      </p:sp>
      <p:sp>
        <p:nvSpPr>
          <p:cNvPr id="5" name="TextBox 5"/>
          <p:cNvSpPr txBox="1"/>
          <p:nvPr/>
        </p:nvSpPr>
        <p:spPr>
          <a:xfrm>
            <a:off x="693524" y="933450"/>
            <a:ext cx="4056382" cy="1523724"/>
          </a:xfrm>
          <a:prstGeom prst="rect">
            <a:avLst/>
          </a:prstGeom>
        </p:spPr>
        <p:txBody>
          <a:bodyPr lIns="0" tIns="0" rIns="0" bIns="0" rtlCol="0" anchor="t">
            <a:spAutoFit/>
          </a:bodyPr>
          <a:lstStyle/>
          <a:p>
            <a:pPr algn="l">
              <a:lnSpc>
                <a:spcPts val="6136"/>
              </a:lnSpc>
            </a:pPr>
            <a:r>
              <a:rPr lang="en-US" sz="4383" spc="438">
                <a:solidFill>
                  <a:srgbClr val="000000"/>
                </a:solidFill>
                <a:latin typeface="Canva Sans"/>
                <a:ea typeface="Canva Sans"/>
                <a:cs typeface="Canva Sans"/>
                <a:sym typeface="Canva Sans"/>
              </a:rPr>
              <a:t>Course</a:t>
            </a:r>
          </a:p>
          <a:p>
            <a:pPr algn="l">
              <a:lnSpc>
                <a:spcPts val="6136"/>
              </a:lnSpc>
              <a:spcBef>
                <a:spcPct val="0"/>
              </a:spcBef>
            </a:pPr>
            <a:r>
              <a:rPr lang="en-US" sz="4383" spc="438">
                <a:solidFill>
                  <a:srgbClr val="000000"/>
                </a:solidFill>
                <a:latin typeface="Canva Sans"/>
                <a:ea typeface="Canva Sans"/>
                <a:cs typeface="Canva Sans"/>
                <a:sym typeface="Canva Sans"/>
              </a:rPr>
              <a:t>Management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3290" y="512376"/>
            <a:ext cx="9348890" cy="5256184"/>
          </a:xfrm>
          <a:custGeom>
            <a:avLst/>
            <a:gdLst/>
            <a:ahLst/>
            <a:cxnLst/>
            <a:rect l="l" t="t" r="r" b="b"/>
            <a:pathLst>
              <a:path w="9348890" h="5256184">
                <a:moveTo>
                  <a:pt x="0" y="0"/>
                </a:moveTo>
                <a:lnTo>
                  <a:pt x="9348889" y="0"/>
                </a:lnTo>
                <a:lnTo>
                  <a:pt x="9348889" y="5256184"/>
                </a:lnTo>
                <a:lnTo>
                  <a:pt x="0" y="5256184"/>
                </a:lnTo>
                <a:lnTo>
                  <a:pt x="0" y="0"/>
                </a:lnTo>
                <a:close/>
              </a:path>
            </a:pathLst>
          </a:custGeom>
          <a:blipFill>
            <a:blip r:embed="rId2"/>
            <a:stretch>
              <a:fillRect/>
            </a:stretch>
          </a:blipFill>
        </p:spPr>
      </p:sp>
      <p:sp>
        <p:nvSpPr>
          <p:cNvPr id="3" name="Freeform 3"/>
          <p:cNvSpPr/>
          <p:nvPr/>
        </p:nvSpPr>
        <p:spPr>
          <a:xfrm>
            <a:off x="8590663" y="4793220"/>
            <a:ext cx="9294138" cy="5225401"/>
          </a:xfrm>
          <a:custGeom>
            <a:avLst/>
            <a:gdLst/>
            <a:ahLst/>
            <a:cxnLst/>
            <a:rect l="l" t="t" r="r" b="b"/>
            <a:pathLst>
              <a:path w="9294138" h="5225401">
                <a:moveTo>
                  <a:pt x="0" y="0"/>
                </a:moveTo>
                <a:lnTo>
                  <a:pt x="9294138" y="0"/>
                </a:lnTo>
                <a:lnTo>
                  <a:pt x="9294138" y="5225402"/>
                </a:lnTo>
                <a:lnTo>
                  <a:pt x="0" y="5225402"/>
                </a:lnTo>
                <a:lnTo>
                  <a:pt x="0" y="0"/>
                </a:lnTo>
                <a:close/>
              </a:path>
            </a:pathLst>
          </a:custGeom>
          <a:blipFill>
            <a:blip r:embed="rId3"/>
            <a:stretch>
              <a:fillRect/>
            </a:stretch>
          </a:blipFill>
        </p:spPr>
      </p:sp>
      <p:sp>
        <p:nvSpPr>
          <p:cNvPr id="4" name="TextBox 4"/>
          <p:cNvSpPr txBox="1"/>
          <p:nvPr/>
        </p:nvSpPr>
        <p:spPr>
          <a:xfrm>
            <a:off x="11731356" y="2046998"/>
            <a:ext cx="5024572" cy="941070"/>
          </a:xfrm>
          <a:prstGeom prst="rect">
            <a:avLst/>
          </a:prstGeom>
        </p:spPr>
        <p:txBody>
          <a:bodyPr lIns="0" tIns="0" rIns="0" bIns="0" rtlCol="0" anchor="t">
            <a:spAutoFit/>
          </a:bodyPr>
          <a:lstStyle/>
          <a:p>
            <a:pPr algn="ctr">
              <a:lnSpc>
                <a:spcPts val="3780"/>
              </a:lnSpc>
            </a:pPr>
            <a:r>
              <a:rPr lang="en-US" sz="2700">
                <a:solidFill>
                  <a:srgbClr val="000000"/>
                </a:solidFill>
                <a:latin typeface="Canva Sans"/>
                <a:ea typeface="Canva Sans"/>
                <a:cs typeface="Canva Sans"/>
                <a:sym typeface="Canva Sans"/>
              </a:rPr>
              <a:t>Admin can manage Students &amp;</a:t>
            </a:r>
          </a:p>
          <a:p>
            <a:pPr algn="ctr">
              <a:lnSpc>
                <a:spcPts val="3780"/>
              </a:lnSpc>
              <a:spcBef>
                <a:spcPct val="0"/>
              </a:spcBef>
            </a:pPr>
            <a:r>
              <a:rPr lang="en-US" sz="2700">
                <a:solidFill>
                  <a:srgbClr val="000000"/>
                </a:solidFill>
                <a:latin typeface="Canva Sans"/>
                <a:ea typeface="Canva Sans"/>
                <a:cs typeface="Canva Sans"/>
                <a:sym typeface="Canva Sans"/>
              </a:rPr>
              <a:t>Teachers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40221" y="4752841"/>
            <a:ext cx="9015241" cy="5068598"/>
          </a:xfrm>
          <a:custGeom>
            <a:avLst/>
            <a:gdLst/>
            <a:ahLst/>
            <a:cxnLst/>
            <a:rect l="l" t="t" r="r" b="b"/>
            <a:pathLst>
              <a:path w="9015241" h="5068598">
                <a:moveTo>
                  <a:pt x="0" y="0"/>
                </a:moveTo>
                <a:lnTo>
                  <a:pt x="9015241" y="0"/>
                </a:lnTo>
                <a:lnTo>
                  <a:pt x="9015241" y="5068599"/>
                </a:lnTo>
                <a:lnTo>
                  <a:pt x="0" y="5068599"/>
                </a:lnTo>
                <a:lnTo>
                  <a:pt x="0" y="0"/>
                </a:lnTo>
                <a:close/>
              </a:path>
            </a:pathLst>
          </a:custGeom>
          <a:blipFill>
            <a:blip r:embed="rId2"/>
            <a:stretch>
              <a:fillRect/>
            </a:stretch>
          </a:blipFill>
        </p:spPr>
      </p:sp>
      <p:sp>
        <p:nvSpPr>
          <p:cNvPr id="3" name="Freeform 3"/>
          <p:cNvSpPr/>
          <p:nvPr/>
        </p:nvSpPr>
        <p:spPr>
          <a:xfrm>
            <a:off x="532568" y="370055"/>
            <a:ext cx="10105123" cy="5681358"/>
          </a:xfrm>
          <a:custGeom>
            <a:avLst/>
            <a:gdLst/>
            <a:ahLst/>
            <a:cxnLst/>
            <a:rect l="l" t="t" r="r" b="b"/>
            <a:pathLst>
              <a:path w="10105123" h="5681358">
                <a:moveTo>
                  <a:pt x="0" y="0"/>
                </a:moveTo>
                <a:lnTo>
                  <a:pt x="10105123" y="0"/>
                </a:lnTo>
                <a:lnTo>
                  <a:pt x="10105123" y="5681358"/>
                </a:lnTo>
                <a:lnTo>
                  <a:pt x="0" y="5681358"/>
                </a:lnTo>
                <a:lnTo>
                  <a:pt x="0" y="0"/>
                </a:lnTo>
                <a:close/>
              </a:path>
            </a:pathLst>
          </a:custGeom>
          <a:blipFill>
            <a:blip r:embed="rId3"/>
            <a:stretch>
              <a:fillRect/>
            </a:stretch>
          </a:blipFill>
        </p:spPr>
      </p:sp>
      <p:sp>
        <p:nvSpPr>
          <p:cNvPr id="4" name="TextBox 4"/>
          <p:cNvSpPr txBox="1"/>
          <p:nvPr/>
        </p:nvSpPr>
        <p:spPr>
          <a:xfrm>
            <a:off x="11806041" y="2046998"/>
            <a:ext cx="4875203" cy="464820"/>
          </a:xfrm>
          <a:prstGeom prst="rect">
            <a:avLst/>
          </a:prstGeom>
        </p:spPr>
        <p:txBody>
          <a:bodyPr lIns="0" tIns="0" rIns="0" bIns="0" rtlCol="0" anchor="t">
            <a:spAutoFit/>
          </a:bodyPr>
          <a:lstStyle/>
          <a:p>
            <a:pPr algn="ctr">
              <a:lnSpc>
                <a:spcPts val="3780"/>
              </a:lnSpc>
              <a:spcBef>
                <a:spcPct val="0"/>
              </a:spcBef>
            </a:pPr>
            <a:r>
              <a:rPr lang="en-US" sz="2700">
                <a:solidFill>
                  <a:srgbClr val="000000"/>
                </a:solidFill>
                <a:latin typeface="Canva Sans"/>
                <a:ea typeface="Canva Sans"/>
                <a:cs typeface="Canva Sans"/>
                <a:sym typeface="Canva Sans"/>
              </a:rPr>
              <a:t>Admin can monitor fee status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43494" y="6872490"/>
            <a:ext cx="5517651" cy="3414510"/>
          </a:xfrm>
          <a:custGeom>
            <a:avLst/>
            <a:gdLst/>
            <a:ahLst/>
            <a:cxnLst/>
            <a:rect l="l" t="t" r="r" b="b"/>
            <a:pathLst>
              <a:path w="5517651" h="3414510">
                <a:moveTo>
                  <a:pt x="0" y="0"/>
                </a:moveTo>
                <a:lnTo>
                  <a:pt x="5517651" y="0"/>
                </a:lnTo>
                <a:lnTo>
                  <a:pt x="5517651" y="3414510"/>
                </a:lnTo>
                <a:lnTo>
                  <a:pt x="0" y="3414510"/>
                </a:lnTo>
                <a:lnTo>
                  <a:pt x="0" y="0"/>
                </a:lnTo>
                <a:close/>
              </a:path>
            </a:pathLst>
          </a:custGeom>
          <a:blipFill>
            <a:blip r:embed="rId2"/>
            <a:stretch>
              <a:fillRect/>
            </a:stretch>
          </a:blipFill>
        </p:spPr>
      </p:sp>
      <p:sp>
        <p:nvSpPr>
          <p:cNvPr id="3" name="Freeform 3"/>
          <p:cNvSpPr/>
          <p:nvPr/>
        </p:nvSpPr>
        <p:spPr>
          <a:xfrm>
            <a:off x="5890605" y="7972323"/>
            <a:ext cx="6506791" cy="1952037"/>
          </a:xfrm>
          <a:custGeom>
            <a:avLst/>
            <a:gdLst/>
            <a:ahLst/>
            <a:cxnLst/>
            <a:rect l="l" t="t" r="r" b="b"/>
            <a:pathLst>
              <a:path w="6506791" h="1952037">
                <a:moveTo>
                  <a:pt x="0" y="0"/>
                </a:moveTo>
                <a:lnTo>
                  <a:pt x="6506790" y="0"/>
                </a:lnTo>
                <a:lnTo>
                  <a:pt x="6506790" y="1952037"/>
                </a:lnTo>
                <a:lnTo>
                  <a:pt x="0" y="1952037"/>
                </a:lnTo>
                <a:lnTo>
                  <a:pt x="0" y="0"/>
                </a:lnTo>
                <a:close/>
              </a:path>
            </a:pathLst>
          </a:custGeom>
          <a:blipFill>
            <a:blip r:embed="rId3"/>
            <a:stretch>
              <a:fillRect/>
            </a:stretch>
          </a:blipFill>
        </p:spPr>
      </p:sp>
      <p:sp>
        <p:nvSpPr>
          <p:cNvPr id="4" name="Freeform 4"/>
          <p:cNvSpPr/>
          <p:nvPr/>
        </p:nvSpPr>
        <p:spPr>
          <a:xfrm>
            <a:off x="6489997" y="453811"/>
            <a:ext cx="11271148" cy="5920449"/>
          </a:xfrm>
          <a:custGeom>
            <a:avLst/>
            <a:gdLst/>
            <a:ahLst/>
            <a:cxnLst/>
            <a:rect l="l" t="t" r="r" b="b"/>
            <a:pathLst>
              <a:path w="11271148" h="5920449">
                <a:moveTo>
                  <a:pt x="0" y="0"/>
                </a:moveTo>
                <a:lnTo>
                  <a:pt x="11271148" y="0"/>
                </a:lnTo>
                <a:lnTo>
                  <a:pt x="11271148" y="5920449"/>
                </a:lnTo>
                <a:lnTo>
                  <a:pt x="0" y="5920449"/>
                </a:lnTo>
                <a:lnTo>
                  <a:pt x="0" y="0"/>
                </a:lnTo>
                <a:close/>
              </a:path>
            </a:pathLst>
          </a:custGeom>
          <a:blipFill>
            <a:blip r:embed="rId4"/>
            <a:stretch>
              <a:fillRect/>
            </a:stretch>
          </a:blipFill>
        </p:spPr>
      </p:sp>
      <p:sp>
        <p:nvSpPr>
          <p:cNvPr id="5" name="TextBox 5"/>
          <p:cNvSpPr txBox="1"/>
          <p:nvPr/>
        </p:nvSpPr>
        <p:spPr>
          <a:xfrm>
            <a:off x="737194" y="971550"/>
            <a:ext cx="4777483" cy="2041107"/>
          </a:xfrm>
          <a:prstGeom prst="rect">
            <a:avLst/>
          </a:prstGeom>
        </p:spPr>
        <p:txBody>
          <a:bodyPr lIns="0" tIns="0" rIns="0" bIns="0" rtlCol="0" anchor="t">
            <a:spAutoFit/>
          </a:bodyPr>
          <a:lstStyle/>
          <a:p>
            <a:pPr algn="l">
              <a:lnSpc>
                <a:spcPts val="4059"/>
              </a:lnSpc>
              <a:spcBef>
                <a:spcPct val="0"/>
              </a:spcBef>
            </a:pPr>
            <a:r>
              <a:rPr lang="en-US" sz="2899" spc="289">
                <a:solidFill>
                  <a:srgbClr val="000000"/>
                </a:solidFill>
                <a:latin typeface="Canva Sans"/>
                <a:ea typeface="Canva Sans"/>
                <a:cs typeface="Canva Sans"/>
                <a:sym typeface="Canva Sans"/>
              </a:rPr>
              <a:t>Admin can send notifications to students and teachers.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6323" y="349965"/>
            <a:ext cx="9845918" cy="5535626"/>
          </a:xfrm>
          <a:custGeom>
            <a:avLst/>
            <a:gdLst/>
            <a:ahLst/>
            <a:cxnLst/>
            <a:rect l="l" t="t" r="r" b="b"/>
            <a:pathLst>
              <a:path w="9845918" h="5535626">
                <a:moveTo>
                  <a:pt x="0" y="0"/>
                </a:moveTo>
                <a:lnTo>
                  <a:pt x="9845918" y="0"/>
                </a:lnTo>
                <a:lnTo>
                  <a:pt x="9845918" y="5535626"/>
                </a:lnTo>
                <a:lnTo>
                  <a:pt x="0" y="5535626"/>
                </a:lnTo>
                <a:lnTo>
                  <a:pt x="0" y="0"/>
                </a:lnTo>
                <a:close/>
              </a:path>
            </a:pathLst>
          </a:custGeom>
          <a:blipFill>
            <a:blip r:embed="rId2"/>
            <a:stretch>
              <a:fillRect/>
            </a:stretch>
          </a:blipFill>
        </p:spPr>
      </p:sp>
      <p:sp>
        <p:nvSpPr>
          <p:cNvPr id="3" name="Freeform 3"/>
          <p:cNvSpPr/>
          <p:nvPr/>
        </p:nvSpPr>
        <p:spPr>
          <a:xfrm>
            <a:off x="8025654" y="4549120"/>
            <a:ext cx="9904608" cy="5199919"/>
          </a:xfrm>
          <a:custGeom>
            <a:avLst/>
            <a:gdLst/>
            <a:ahLst/>
            <a:cxnLst/>
            <a:rect l="l" t="t" r="r" b="b"/>
            <a:pathLst>
              <a:path w="9904608" h="5199919">
                <a:moveTo>
                  <a:pt x="0" y="0"/>
                </a:moveTo>
                <a:lnTo>
                  <a:pt x="9904608" y="0"/>
                </a:lnTo>
                <a:lnTo>
                  <a:pt x="9904608" y="5199919"/>
                </a:lnTo>
                <a:lnTo>
                  <a:pt x="0" y="5199919"/>
                </a:lnTo>
                <a:lnTo>
                  <a:pt x="0" y="0"/>
                </a:lnTo>
                <a:close/>
              </a:path>
            </a:pathLst>
          </a:custGeom>
          <a:blipFill>
            <a:blip r:embed="rId3"/>
            <a:stretch>
              <a:fillRect/>
            </a:stretch>
          </a:blipFill>
        </p:spPr>
      </p:sp>
      <p:sp>
        <p:nvSpPr>
          <p:cNvPr id="4" name="TextBox 4"/>
          <p:cNvSpPr txBox="1"/>
          <p:nvPr/>
        </p:nvSpPr>
        <p:spPr>
          <a:xfrm>
            <a:off x="12977958" y="549355"/>
            <a:ext cx="4020535" cy="2044133"/>
          </a:xfrm>
          <a:prstGeom prst="rect">
            <a:avLst/>
          </a:prstGeom>
        </p:spPr>
        <p:txBody>
          <a:bodyPr lIns="0" tIns="0" rIns="0" bIns="0" rtlCol="0" anchor="t">
            <a:spAutoFit/>
          </a:bodyPr>
          <a:lstStyle/>
          <a:p>
            <a:pPr algn="l">
              <a:lnSpc>
                <a:spcPts val="8260"/>
              </a:lnSpc>
            </a:pPr>
            <a:r>
              <a:rPr lang="en-US" sz="5900" b="1">
                <a:solidFill>
                  <a:srgbClr val="000000"/>
                </a:solidFill>
                <a:latin typeface="Canva Sans Bold"/>
                <a:ea typeface="Canva Sans Bold"/>
                <a:cs typeface="Canva Sans Bold"/>
                <a:sym typeface="Canva Sans Bold"/>
              </a:rPr>
              <a:t>Teacher </a:t>
            </a:r>
          </a:p>
          <a:p>
            <a:pPr algn="l">
              <a:lnSpc>
                <a:spcPts val="8260"/>
              </a:lnSpc>
            </a:pPr>
            <a:r>
              <a:rPr lang="en-US" sz="5900" b="1">
                <a:solidFill>
                  <a:srgbClr val="000000"/>
                </a:solidFill>
                <a:latin typeface="Canva Sans Bold"/>
                <a:ea typeface="Canva Sans Bold"/>
                <a:cs typeface="Canva Sans Bold"/>
                <a:sym typeface="Canva Sans Bold"/>
              </a:rPr>
              <a:t>Dashboard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9705" y="414917"/>
            <a:ext cx="8942947" cy="4728583"/>
          </a:xfrm>
          <a:custGeom>
            <a:avLst/>
            <a:gdLst/>
            <a:ahLst/>
            <a:cxnLst/>
            <a:rect l="l" t="t" r="r" b="b"/>
            <a:pathLst>
              <a:path w="8942947" h="4728583">
                <a:moveTo>
                  <a:pt x="0" y="0"/>
                </a:moveTo>
                <a:lnTo>
                  <a:pt x="8942947" y="0"/>
                </a:lnTo>
                <a:lnTo>
                  <a:pt x="8942947" y="4728583"/>
                </a:lnTo>
                <a:lnTo>
                  <a:pt x="0" y="4728583"/>
                </a:lnTo>
                <a:lnTo>
                  <a:pt x="0" y="0"/>
                </a:lnTo>
                <a:close/>
              </a:path>
            </a:pathLst>
          </a:custGeom>
          <a:blipFill>
            <a:blip r:embed="rId2"/>
            <a:stretch>
              <a:fillRect/>
            </a:stretch>
          </a:blipFill>
        </p:spPr>
      </p:sp>
      <p:sp>
        <p:nvSpPr>
          <p:cNvPr id="3" name="Freeform 3"/>
          <p:cNvSpPr/>
          <p:nvPr/>
        </p:nvSpPr>
        <p:spPr>
          <a:xfrm>
            <a:off x="449705" y="5417963"/>
            <a:ext cx="8696733" cy="4565785"/>
          </a:xfrm>
          <a:custGeom>
            <a:avLst/>
            <a:gdLst/>
            <a:ahLst/>
            <a:cxnLst/>
            <a:rect l="l" t="t" r="r" b="b"/>
            <a:pathLst>
              <a:path w="8696733" h="4565785">
                <a:moveTo>
                  <a:pt x="0" y="0"/>
                </a:moveTo>
                <a:lnTo>
                  <a:pt x="8696733" y="0"/>
                </a:lnTo>
                <a:lnTo>
                  <a:pt x="8696733" y="4565785"/>
                </a:lnTo>
                <a:lnTo>
                  <a:pt x="0" y="4565785"/>
                </a:lnTo>
                <a:lnTo>
                  <a:pt x="0" y="0"/>
                </a:lnTo>
                <a:close/>
              </a:path>
            </a:pathLst>
          </a:custGeom>
          <a:blipFill>
            <a:blip r:embed="rId3"/>
            <a:stretch>
              <a:fillRect/>
            </a:stretch>
          </a:blipFill>
        </p:spPr>
      </p:sp>
      <p:sp>
        <p:nvSpPr>
          <p:cNvPr id="4" name="Freeform 4"/>
          <p:cNvSpPr/>
          <p:nvPr/>
        </p:nvSpPr>
        <p:spPr>
          <a:xfrm>
            <a:off x="13473668" y="6347253"/>
            <a:ext cx="4565680" cy="3082810"/>
          </a:xfrm>
          <a:custGeom>
            <a:avLst/>
            <a:gdLst/>
            <a:ahLst/>
            <a:cxnLst/>
            <a:rect l="l" t="t" r="r" b="b"/>
            <a:pathLst>
              <a:path w="4565680" h="3082810">
                <a:moveTo>
                  <a:pt x="0" y="0"/>
                </a:moveTo>
                <a:lnTo>
                  <a:pt x="4565680" y="0"/>
                </a:lnTo>
                <a:lnTo>
                  <a:pt x="4565680" y="3082810"/>
                </a:lnTo>
                <a:lnTo>
                  <a:pt x="0" y="3082810"/>
                </a:lnTo>
                <a:lnTo>
                  <a:pt x="0" y="0"/>
                </a:lnTo>
                <a:close/>
              </a:path>
            </a:pathLst>
          </a:custGeom>
          <a:blipFill>
            <a:blip r:embed="rId4"/>
            <a:stretch>
              <a:fillRect/>
            </a:stretch>
          </a:blipFill>
        </p:spPr>
      </p:sp>
      <p:sp>
        <p:nvSpPr>
          <p:cNvPr id="5" name="Freeform 5"/>
          <p:cNvSpPr/>
          <p:nvPr/>
        </p:nvSpPr>
        <p:spPr>
          <a:xfrm>
            <a:off x="9527438" y="5971649"/>
            <a:ext cx="3565229" cy="3458413"/>
          </a:xfrm>
          <a:custGeom>
            <a:avLst/>
            <a:gdLst/>
            <a:ahLst/>
            <a:cxnLst/>
            <a:rect l="l" t="t" r="r" b="b"/>
            <a:pathLst>
              <a:path w="3565229" h="3458413">
                <a:moveTo>
                  <a:pt x="0" y="0"/>
                </a:moveTo>
                <a:lnTo>
                  <a:pt x="3565230" y="0"/>
                </a:lnTo>
                <a:lnTo>
                  <a:pt x="3565230" y="3458414"/>
                </a:lnTo>
                <a:lnTo>
                  <a:pt x="0" y="3458414"/>
                </a:lnTo>
                <a:lnTo>
                  <a:pt x="0" y="0"/>
                </a:lnTo>
                <a:close/>
              </a:path>
            </a:pathLst>
          </a:custGeom>
          <a:blipFill>
            <a:blip r:embed="rId5"/>
            <a:stretch>
              <a:fillRect b="-21159"/>
            </a:stretch>
          </a:blipFill>
        </p:spPr>
      </p:sp>
      <p:sp>
        <p:nvSpPr>
          <p:cNvPr id="6" name="Freeform 6"/>
          <p:cNvSpPr/>
          <p:nvPr/>
        </p:nvSpPr>
        <p:spPr>
          <a:xfrm>
            <a:off x="12767894" y="1723507"/>
            <a:ext cx="4052591" cy="2008528"/>
          </a:xfrm>
          <a:custGeom>
            <a:avLst/>
            <a:gdLst/>
            <a:ahLst/>
            <a:cxnLst/>
            <a:rect l="l" t="t" r="r" b="b"/>
            <a:pathLst>
              <a:path w="4052591" h="2008528">
                <a:moveTo>
                  <a:pt x="0" y="0"/>
                </a:moveTo>
                <a:lnTo>
                  <a:pt x="4052591" y="0"/>
                </a:lnTo>
                <a:lnTo>
                  <a:pt x="4052591" y="2008527"/>
                </a:lnTo>
                <a:lnTo>
                  <a:pt x="0" y="2008527"/>
                </a:lnTo>
                <a:lnTo>
                  <a:pt x="0" y="0"/>
                </a:lnTo>
                <a:close/>
              </a:path>
            </a:pathLst>
          </a:custGeom>
          <a:blipFill>
            <a:blip r:embed="rId6"/>
            <a:stretch>
              <a:fillRect t="-274302" b="-51876"/>
            </a:stretch>
          </a:blipFill>
        </p:spPr>
      </p:sp>
      <p:grpSp>
        <p:nvGrpSpPr>
          <p:cNvPr id="7" name="Group 7"/>
          <p:cNvGrpSpPr/>
          <p:nvPr/>
        </p:nvGrpSpPr>
        <p:grpSpPr>
          <a:xfrm>
            <a:off x="8795193" y="8126865"/>
            <a:ext cx="1121590" cy="560795"/>
            <a:chOff x="0" y="0"/>
            <a:chExt cx="812800" cy="406400"/>
          </a:xfrm>
        </p:grpSpPr>
        <p:sp>
          <p:nvSpPr>
            <p:cNvPr id="8" name="Freeform 8"/>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227C9D"/>
            </a:solidFill>
          </p:spPr>
        </p:sp>
        <p:sp>
          <p:nvSpPr>
            <p:cNvPr id="9" name="TextBox 9"/>
            <p:cNvSpPr txBox="1"/>
            <p:nvPr/>
          </p:nvSpPr>
          <p:spPr>
            <a:xfrm>
              <a:off x="177800" y="-47625"/>
              <a:ext cx="558800" cy="454025"/>
            </a:xfrm>
            <a:prstGeom prst="rect">
              <a:avLst/>
            </a:prstGeom>
          </p:spPr>
          <p:txBody>
            <a:bodyPr lIns="50800" tIns="50800" rIns="50800" bIns="50800" rtlCol="0" anchor="ctr"/>
            <a:lstStyle/>
            <a:p>
              <a:pPr algn="ctr">
                <a:lnSpc>
                  <a:spcPts val="2805"/>
                </a:lnSpc>
              </a:pPr>
              <a:endParaRPr/>
            </a:p>
          </p:txBody>
        </p:sp>
      </p:grpSp>
      <p:grpSp>
        <p:nvGrpSpPr>
          <p:cNvPr id="10" name="Group 10"/>
          <p:cNvGrpSpPr/>
          <p:nvPr/>
        </p:nvGrpSpPr>
        <p:grpSpPr>
          <a:xfrm>
            <a:off x="10093469" y="2285806"/>
            <a:ext cx="1973608" cy="986804"/>
            <a:chOff x="0" y="0"/>
            <a:chExt cx="812800" cy="406400"/>
          </a:xfrm>
        </p:grpSpPr>
        <p:sp>
          <p:nvSpPr>
            <p:cNvPr id="11" name="Freeform 11"/>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227C9D"/>
            </a:solidFill>
          </p:spPr>
        </p:sp>
        <p:sp>
          <p:nvSpPr>
            <p:cNvPr id="12" name="TextBox 12"/>
            <p:cNvSpPr txBox="1"/>
            <p:nvPr/>
          </p:nvSpPr>
          <p:spPr>
            <a:xfrm>
              <a:off x="177800" y="-47625"/>
              <a:ext cx="558800" cy="454025"/>
            </a:xfrm>
            <a:prstGeom prst="rect">
              <a:avLst/>
            </a:prstGeom>
          </p:spPr>
          <p:txBody>
            <a:bodyPr lIns="50800" tIns="50800" rIns="50800" bIns="50800" rtlCol="0" anchor="ctr"/>
            <a:lstStyle/>
            <a:p>
              <a:pPr algn="ctr">
                <a:lnSpc>
                  <a:spcPts val="2805"/>
                </a:lnSpc>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8971" y="283810"/>
            <a:ext cx="8290669" cy="4661225"/>
          </a:xfrm>
          <a:custGeom>
            <a:avLst/>
            <a:gdLst/>
            <a:ahLst/>
            <a:cxnLst/>
            <a:rect l="l" t="t" r="r" b="b"/>
            <a:pathLst>
              <a:path w="8290669" h="4661225">
                <a:moveTo>
                  <a:pt x="0" y="0"/>
                </a:moveTo>
                <a:lnTo>
                  <a:pt x="8290669" y="0"/>
                </a:lnTo>
                <a:lnTo>
                  <a:pt x="8290669" y="4661225"/>
                </a:lnTo>
                <a:lnTo>
                  <a:pt x="0" y="4661225"/>
                </a:lnTo>
                <a:lnTo>
                  <a:pt x="0" y="0"/>
                </a:lnTo>
                <a:close/>
              </a:path>
            </a:pathLst>
          </a:custGeom>
          <a:blipFill>
            <a:blip r:embed="rId2"/>
            <a:stretch>
              <a:fillRect/>
            </a:stretch>
          </a:blipFill>
        </p:spPr>
      </p:sp>
      <p:sp>
        <p:nvSpPr>
          <p:cNvPr id="3" name="Freeform 3"/>
          <p:cNvSpPr/>
          <p:nvPr/>
        </p:nvSpPr>
        <p:spPr>
          <a:xfrm>
            <a:off x="9144000" y="5143500"/>
            <a:ext cx="8481082" cy="4768280"/>
          </a:xfrm>
          <a:custGeom>
            <a:avLst/>
            <a:gdLst/>
            <a:ahLst/>
            <a:cxnLst/>
            <a:rect l="l" t="t" r="r" b="b"/>
            <a:pathLst>
              <a:path w="8481082" h="4768280">
                <a:moveTo>
                  <a:pt x="0" y="0"/>
                </a:moveTo>
                <a:lnTo>
                  <a:pt x="8481082" y="0"/>
                </a:lnTo>
                <a:lnTo>
                  <a:pt x="8481082" y="4768280"/>
                </a:lnTo>
                <a:lnTo>
                  <a:pt x="0" y="4768280"/>
                </a:lnTo>
                <a:lnTo>
                  <a:pt x="0" y="0"/>
                </a:lnTo>
                <a:close/>
              </a:path>
            </a:pathLst>
          </a:custGeom>
          <a:blipFill>
            <a:blip r:embed="rId3"/>
            <a:stretch>
              <a:fillRect/>
            </a:stretch>
          </a:blipFill>
        </p:spPr>
      </p:sp>
      <p:sp>
        <p:nvSpPr>
          <p:cNvPr id="4" name="Freeform 4"/>
          <p:cNvSpPr/>
          <p:nvPr/>
        </p:nvSpPr>
        <p:spPr>
          <a:xfrm>
            <a:off x="518975" y="5165155"/>
            <a:ext cx="8442565" cy="4746625"/>
          </a:xfrm>
          <a:custGeom>
            <a:avLst/>
            <a:gdLst/>
            <a:ahLst/>
            <a:cxnLst/>
            <a:rect l="l" t="t" r="r" b="b"/>
            <a:pathLst>
              <a:path w="8442565" h="4746625">
                <a:moveTo>
                  <a:pt x="0" y="0"/>
                </a:moveTo>
                <a:lnTo>
                  <a:pt x="8442565" y="0"/>
                </a:lnTo>
                <a:lnTo>
                  <a:pt x="8442565" y="4746625"/>
                </a:lnTo>
                <a:lnTo>
                  <a:pt x="0" y="4746625"/>
                </a:lnTo>
                <a:lnTo>
                  <a:pt x="0" y="0"/>
                </a:lnTo>
                <a:close/>
              </a:path>
            </a:pathLst>
          </a:custGeom>
          <a:blipFill>
            <a:blip r:embed="rId4"/>
            <a:stretch>
              <a:fillRect/>
            </a:stretch>
          </a:blipFill>
        </p:spPr>
      </p:sp>
      <p:sp>
        <p:nvSpPr>
          <p:cNvPr id="5" name="TextBox 5"/>
          <p:cNvSpPr txBox="1"/>
          <p:nvPr/>
        </p:nvSpPr>
        <p:spPr>
          <a:xfrm>
            <a:off x="10995799" y="1269247"/>
            <a:ext cx="4777483" cy="1526703"/>
          </a:xfrm>
          <a:prstGeom prst="rect">
            <a:avLst/>
          </a:prstGeom>
        </p:spPr>
        <p:txBody>
          <a:bodyPr lIns="0" tIns="0" rIns="0" bIns="0" rtlCol="0" anchor="t">
            <a:spAutoFit/>
          </a:bodyPr>
          <a:lstStyle/>
          <a:p>
            <a:pPr algn="l">
              <a:lnSpc>
                <a:spcPts val="4059"/>
              </a:lnSpc>
              <a:spcBef>
                <a:spcPct val="0"/>
              </a:spcBef>
            </a:pPr>
            <a:r>
              <a:rPr lang="en-US" sz="2899" spc="289">
                <a:solidFill>
                  <a:srgbClr val="000000"/>
                </a:solidFill>
                <a:latin typeface="Canva Sans"/>
                <a:ea typeface="Canva Sans"/>
                <a:cs typeface="Canva Sans"/>
                <a:sym typeface="Canva Sans"/>
              </a:rPr>
              <a:t>Teacher can upload notes, assignments &amp; quizzes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4788" y="492079"/>
            <a:ext cx="8067840" cy="4535945"/>
          </a:xfrm>
          <a:custGeom>
            <a:avLst/>
            <a:gdLst/>
            <a:ahLst/>
            <a:cxnLst/>
            <a:rect l="l" t="t" r="r" b="b"/>
            <a:pathLst>
              <a:path w="8067840" h="4535945">
                <a:moveTo>
                  <a:pt x="0" y="0"/>
                </a:moveTo>
                <a:lnTo>
                  <a:pt x="8067841" y="0"/>
                </a:lnTo>
                <a:lnTo>
                  <a:pt x="8067841" y="4535945"/>
                </a:lnTo>
                <a:lnTo>
                  <a:pt x="0" y="4535945"/>
                </a:lnTo>
                <a:lnTo>
                  <a:pt x="0" y="0"/>
                </a:lnTo>
                <a:close/>
              </a:path>
            </a:pathLst>
          </a:custGeom>
          <a:blipFill>
            <a:blip r:embed="rId2"/>
            <a:stretch>
              <a:fillRect/>
            </a:stretch>
          </a:blipFill>
        </p:spPr>
      </p:sp>
      <p:sp>
        <p:nvSpPr>
          <p:cNvPr id="3" name="Freeform 3"/>
          <p:cNvSpPr/>
          <p:nvPr/>
        </p:nvSpPr>
        <p:spPr>
          <a:xfrm>
            <a:off x="442735" y="5143500"/>
            <a:ext cx="8471946" cy="4763144"/>
          </a:xfrm>
          <a:custGeom>
            <a:avLst/>
            <a:gdLst/>
            <a:ahLst/>
            <a:cxnLst/>
            <a:rect l="l" t="t" r="r" b="b"/>
            <a:pathLst>
              <a:path w="8471946" h="4763144">
                <a:moveTo>
                  <a:pt x="0" y="0"/>
                </a:moveTo>
                <a:lnTo>
                  <a:pt x="8471946" y="0"/>
                </a:lnTo>
                <a:lnTo>
                  <a:pt x="8471946" y="4763144"/>
                </a:lnTo>
                <a:lnTo>
                  <a:pt x="0" y="4763144"/>
                </a:lnTo>
                <a:lnTo>
                  <a:pt x="0" y="0"/>
                </a:lnTo>
                <a:close/>
              </a:path>
            </a:pathLst>
          </a:custGeom>
          <a:blipFill>
            <a:blip r:embed="rId3"/>
            <a:stretch>
              <a:fillRect/>
            </a:stretch>
          </a:blipFill>
        </p:spPr>
      </p:sp>
      <p:sp>
        <p:nvSpPr>
          <p:cNvPr id="4" name="Freeform 4"/>
          <p:cNvSpPr/>
          <p:nvPr/>
        </p:nvSpPr>
        <p:spPr>
          <a:xfrm>
            <a:off x="9354731" y="5143500"/>
            <a:ext cx="8471946" cy="4763144"/>
          </a:xfrm>
          <a:custGeom>
            <a:avLst/>
            <a:gdLst/>
            <a:ahLst/>
            <a:cxnLst/>
            <a:rect l="l" t="t" r="r" b="b"/>
            <a:pathLst>
              <a:path w="8471946" h="4763144">
                <a:moveTo>
                  <a:pt x="0" y="0"/>
                </a:moveTo>
                <a:lnTo>
                  <a:pt x="8471946" y="0"/>
                </a:lnTo>
                <a:lnTo>
                  <a:pt x="8471946" y="4763144"/>
                </a:lnTo>
                <a:lnTo>
                  <a:pt x="0" y="4763144"/>
                </a:lnTo>
                <a:lnTo>
                  <a:pt x="0" y="0"/>
                </a:lnTo>
                <a:close/>
              </a:path>
            </a:pathLst>
          </a:custGeom>
          <a:blipFill>
            <a:blip r:embed="rId4"/>
            <a:stretch>
              <a:fillRect/>
            </a:stretch>
          </a:blipFill>
        </p:spPr>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38521" y="4430115"/>
            <a:ext cx="3120779" cy="2797474"/>
          </a:xfrm>
          <a:custGeom>
            <a:avLst/>
            <a:gdLst/>
            <a:ahLst/>
            <a:cxnLst/>
            <a:rect l="l" t="t" r="r" b="b"/>
            <a:pathLst>
              <a:path w="3120779" h="2797474">
                <a:moveTo>
                  <a:pt x="0" y="0"/>
                </a:moveTo>
                <a:lnTo>
                  <a:pt x="3120779" y="0"/>
                </a:lnTo>
                <a:lnTo>
                  <a:pt x="3120779" y="2797475"/>
                </a:lnTo>
                <a:lnTo>
                  <a:pt x="0" y="2797475"/>
                </a:lnTo>
                <a:lnTo>
                  <a:pt x="0" y="0"/>
                </a:lnTo>
                <a:close/>
              </a:path>
            </a:pathLst>
          </a:custGeom>
          <a:blipFill>
            <a:blip r:embed="rId2"/>
            <a:stretch>
              <a:fillRect t="-148730"/>
            </a:stretch>
          </a:blipFill>
        </p:spPr>
      </p:sp>
      <p:grpSp>
        <p:nvGrpSpPr>
          <p:cNvPr id="3" name="Group 3"/>
          <p:cNvGrpSpPr/>
          <p:nvPr/>
        </p:nvGrpSpPr>
        <p:grpSpPr>
          <a:xfrm>
            <a:off x="12804228" y="5452417"/>
            <a:ext cx="1391444" cy="695722"/>
            <a:chOff x="0" y="0"/>
            <a:chExt cx="812800" cy="406400"/>
          </a:xfrm>
        </p:grpSpPr>
        <p:sp>
          <p:nvSpPr>
            <p:cNvPr id="4" name="Freeform 4"/>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227C9D"/>
            </a:solidFill>
          </p:spPr>
        </p:sp>
        <p:sp>
          <p:nvSpPr>
            <p:cNvPr id="5" name="TextBox 5"/>
            <p:cNvSpPr txBox="1"/>
            <p:nvPr/>
          </p:nvSpPr>
          <p:spPr>
            <a:xfrm>
              <a:off x="177800" y="-47625"/>
              <a:ext cx="558800" cy="454025"/>
            </a:xfrm>
            <a:prstGeom prst="rect">
              <a:avLst/>
            </a:prstGeom>
          </p:spPr>
          <p:txBody>
            <a:bodyPr lIns="50800" tIns="50800" rIns="50800" bIns="50800" rtlCol="0" anchor="ctr"/>
            <a:lstStyle/>
            <a:p>
              <a:pPr algn="ctr">
                <a:lnSpc>
                  <a:spcPts val="2805"/>
                </a:lnSpc>
              </a:pPr>
              <a:endParaRPr/>
            </a:p>
          </p:txBody>
        </p:sp>
      </p:grpSp>
      <p:sp>
        <p:nvSpPr>
          <p:cNvPr id="6" name="Freeform 6"/>
          <p:cNvSpPr/>
          <p:nvPr/>
        </p:nvSpPr>
        <p:spPr>
          <a:xfrm>
            <a:off x="801600" y="2226161"/>
            <a:ext cx="12002628" cy="6748183"/>
          </a:xfrm>
          <a:custGeom>
            <a:avLst/>
            <a:gdLst/>
            <a:ahLst/>
            <a:cxnLst/>
            <a:rect l="l" t="t" r="r" b="b"/>
            <a:pathLst>
              <a:path w="12002628" h="6748183">
                <a:moveTo>
                  <a:pt x="0" y="0"/>
                </a:moveTo>
                <a:lnTo>
                  <a:pt x="12002628" y="0"/>
                </a:lnTo>
                <a:lnTo>
                  <a:pt x="12002628" y="6748183"/>
                </a:lnTo>
                <a:lnTo>
                  <a:pt x="0" y="6748183"/>
                </a:lnTo>
                <a:lnTo>
                  <a:pt x="0" y="0"/>
                </a:lnTo>
                <a:close/>
              </a:path>
            </a:pathLst>
          </a:custGeom>
          <a:blipFill>
            <a:blip r:embed="rId3"/>
            <a:stretch>
              <a:fillRect/>
            </a:stretch>
          </a:blipFill>
        </p:spPr>
      </p:sp>
      <p:sp>
        <p:nvSpPr>
          <p:cNvPr id="7" name="TextBox 7"/>
          <p:cNvSpPr txBox="1"/>
          <p:nvPr/>
        </p:nvSpPr>
        <p:spPr>
          <a:xfrm>
            <a:off x="6737817" y="493976"/>
            <a:ext cx="6762133" cy="1012299"/>
          </a:xfrm>
          <a:prstGeom prst="rect">
            <a:avLst/>
          </a:prstGeom>
        </p:spPr>
        <p:txBody>
          <a:bodyPr lIns="0" tIns="0" rIns="0" bIns="0" rtlCol="0" anchor="t">
            <a:spAutoFit/>
          </a:bodyPr>
          <a:lstStyle/>
          <a:p>
            <a:pPr algn="l">
              <a:lnSpc>
                <a:spcPts val="4059"/>
              </a:lnSpc>
              <a:spcBef>
                <a:spcPct val="0"/>
              </a:spcBef>
            </a:pPr>
            <a:r>
              <a:rPr lang="en-US" sz="2899" spc="289">
                <a:solidFill>
                  <a:srgbClr val="000000"/>
                </a:solidFill>
                <a:latin typeface="Canva Sans"/>
                <a:ea typeface="Canva Sans"/>
                <a:cs typeface="Canva Sans"/>
                <a:sym typeface="Canva Sans"/>
              </a:rPr>
              <a:t>Upload Test Marks &amp; Monthly Report via Drive Link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713544" y="240961"/>
            <a:ext cx="4397627" cy="9805079"/>
          </a:xfrm>
          <a:custGeom>
            <a:avLst/>
            <a:gdLst/>
            <a:ahLst/>
            <a:cxnLst/>
            <a:rect l="l" t="t" r="r" b="b"/>
            <a:pathLst>
              <a:path w="4397627" h="9805079">
                <a:moveTo>
                  <a:pt x="0" y="0"/>
                </a:moveTo>
                <a:lnTo>
                  <a:pt x="4397627" y="0"/>
                </a:lnTo>
                <a:lnTo>
                  <a:pt x="4397627" y="9805078"/>
                </a:lnTo>
                <a:lnTo>
                  <a:pt x="0" y="9805078"/>
                </a:lnTo>
                <a:lnTo>
                  <a:pt x="0" y="0"/>
                </a:lnTo>
                <a:close/>
              </a:path>
            </a:pathLst>
          </a:custGeom>
          <a:blipFill>
            <a:blip r:embed="rId2"/>
            <a:stretch>
              <a:fillRect/>
            </a:stretch>
          </a:blipFill>
        </p:spPr>
      </p:sp>
      <p:sp>
        <p:nvSpPr>
          <p:cNvPr id="3" name="Freeform 3"/>
          <p:cNvSpPr/>
          <p:nvPr/>
        </p:nvSpPr>
        <p:spPr>
          <a:xfrm>
            <a:off x="9144000" y="240961"/>
            <a:ext cx="4397627" cy="9805079"/>
          </a:xfrm>
          <a:custGeom>
            <a:avLst/>
            <a:gdLst/>
            <a:ahLst/>
            <a:cxnLst/>
            <a:rect l="l" t="t" r="r" b="b"/>
            <a:pathLst>
              <a:path w="4397627" h="9805079">
                <a:moveTo>
                  <a:pt x="0" y="0"/>
                </a:moveTo>
                <a:lnTo>
                  <a:pt x="4397627" y="0"/>
                </a:lnTo>
                <a:lnTo>
                  <a:pt x="4397627" y="9805078"/>
                </a:lnTo>
                <a:lnTo>
                  <a:pt x="0" y="9805078"/>
                </a:lnTo>
                <a:lnTo>
                  <a:pt x="0" y="0"/>
                </a:lnTo>
                <a:close/>
              </a:path>
            </a:pathLst>
          </a:custGeom>
          <a:blipFill>
            <a:blip r:embed="rId3"/>
            <a:stretch>
              <a:fillRect/>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419479" y="381922"/>
            <a:ext cx="8439875" cy="4441484"/>
          </a:xfrm>
          <a:custGeom>
            <a:avLst/>
            <a:gdLst/>
            <a:ahLst/>
            <a:cxnLst/>
            <a:rect l="l" t="t" r="r" b="b"/>
            <a:pathLst>
              <a:path w="8439875" h="4441484">
                <a:moveTo>
                  <a:pt x="0" y="0"/>
                </a:moveTo>
                <a:lnTo>
                  <a:pt x="8439875" y="0"/>
                </a:lnTo>
                <a:lnTo>
                  <a:pt x="8439875" y="4441484"/>
                </a:lnTo>
                <a:lnTo>
                  <a:pt x="0" y="4441484"/>
                </a:lnTo>
                <a:lnTo>
                  <a:pt x="0" y="0"/>
                </a:lnTo>
                <a:close/>
              </a:path>
            </a:pathLst>
          </a:custGeom>
          <a:blipFill>
            <a:blip r:embed="rId2"/>
            <a:stretch>
              <a:fillRect/>
            </a:stretch>
          </a:blipFill>
        </p:spPr>
      </p:sp>
      <p:sp>
        <p:nvSpPr>
          <p:cNvPr id="3" name="Freeform 3"/>
          <p:cNvSpPr/>
          <p:nvPr/>
        </p:nvSpPr>
        <p:spPr>
          <a:xfrm>
            <a:off x="9282015" y="5472994"/>
            <a:ext cx="8638604" cy="4524469"/>
          </a:xfrm>
          <a:custGeom>
            <a:avLst/>
            <a:gdLst/>
            <a:ahLst/>
            <a:cxnLst/>
            <a:rect l="l" t="t" r="r" b="b"/>
            <a:pathLst>
              <a:path w="8638604" h="4524469">
                <a:moveTo>
                  <a:pt x="0" y="0"/>
                </a:moveTo>
                <a:lnTo>
                  <a:pt x="8638604" y="0"/>
                </a:lnTo>
                <a:lnTo>
                  <a:pt x="8638604" y="4524469"/>
                </a:lnTo>
                <a:lnTo>
                  <a:pt x="0" y="4524469"/>
                </a:lnTo>
                <a:lnTo>
                  <a:pt x="0" y="0"/>
                </a:lnTo>
                <a:close/>
              </a:path>
            </a:pathLst>
          </a:custGeom>
          <a:blipFill>
            <a:blip r:embed="rId3"/>
            <a:stretch>
              <a:fillRect/>
            </a:stretch>
          </a:blipFill>
        </p:spPr>
      </p:sp>
      <p:sp>
        <p:nvSpPr>
          <p:cNvPr id="4" name="Freeform 4"/>
          <p:cNvSpPr/>
          <p:nvPr/>
        </p:nvSpPr>
        <p:spPr>
          <a:xfrm>
            <a:off x="389425" y="5577110"/>
            <a:ext cx="8452044" cy="4458453"/>
          </a:xfrm>
          <a:custGeom>
            <a:avLst/>
            <a:gdLst/>
            <a:ahLst/>
            <a:cxnLst/>
            <a:rect l="l" t="t" r="r" b="b"/>
            <a:pathLst>
              <a:path w="8452044" h="4458453">
                <a:moveTo>
                  <a:pt x="0" y="0"/>
                </a:moveTo>
                <a:lnTo>
                  <a:pt x="8452043" y="0"/>
                </a:lnTo>
                <a:lnTo>
                  <a:pt x="8452043" y="4458453"/>
                </a:lnTo>
                <a:lnTo>
                  <a:pt x="0" y="4458453"/>
                </a:lnTo>
                <a:lnTo>
                  <a:pt x="0" y="0"/>
                </a:lnTo>
                <a:close/>
              </a:path>
            </a:pathLst>
          </a:custGeom>
          <a:blipFill>
            <a:blip r:embed="rId4"/>
            <a:stretch>
              <a:fillRect/>
            </a:stretch>
          </a:blipFill>
        </p:spPr>
      </p:sp>
      <p:sp>
        <p:nvSpPr>
          <p:cNvPr id="5" name="Freeform 5"/>
          <p:cNvSpPr/>
          <p:nvPr/>
        </p:nvSpPr>
        <p:spPr>
          <a:xfrm>
            <a:off x="251410" y="381922"/>
            <a:ext cx="8892590" cy="4999640"/>
          </a:xfrm>
          <a:custGeom>
            <a:avLst/>
            <a:gdLst/>
            <a:ahLst/>
            <a:cxnLst/>
            <a:rect l="l" t="t" r="r" b="b"/>
            <a:pathLst>
              <a:path w="8892590" h="4999640">
                <a:moveTo>
                  <a:pt x="0" y="0"/>
                </a:moveTo>
                <a:lnTo>
                  <a:pt x="8892590" y="0"/>
                </a:lnTo>
                <a:lnTo>
                  <a:pt x="8892590" y="4999640"/>
                </a:lnTo>
                <a:lnTo>
                  <a:pt x="0" y="4999640"/>
                </a:lnTo>
                <a:lnTo>
                  <a:pt x="0" y="0"/>
                </a:lnTo>
                <a:close/>
              </a:path>
            </a:pathLst>
          </a:custGeom>
          <a:blipFill>
            <a:blip r:embed="rId5"/>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098278" y="4277001"/>
            <a:ext cx="9704835" cy="5456305"/>
          </a:xfrm>
          <a:custGeom>
            <a:avLst/>
            <a:gdLst/>
            <a:ahLst/>
            <a:cxnLst/>
            <a:rect l="l" t="t" r="r" b="b"/>
            <a:pathLst>
              <a:path w="9704835" h="5456305">
                <a:moveTo>
                  <a:pt x="0" y="0"/>
                </a:moveTo>
                <a:lnTo>
                  <a:pt x="9704835" y="0"/>
                </a:lnTo>
                <a:lnTo>
                  <a:pt x="9704835" y="5456306"/>
                </a:lnTo>
                <a:lnTo>
                  <a:pt x="0" y="5456306"/>
                </a:lnTo>
                <a:lnTo>
                  <a:pt x="0" y="0"/>
                </a:lnTo>
                <a:close/>
              </a:path>
            </a:pathLst>
          </a:custGeom>
          <a:blipFill>
            <a:blip r:embed="rId2"/>
            <a:stretch>
              <a:fillRect/>
            </a:stretch>
          </a:blipFill>
        </p:spPr>
      </p:sp>
      <p:sp>
        <p:nvSpPr>
          <p:cNvPr id="3" name="Freeform 3"/>
          <p:cNvSpPr/>
          <p:nvPr/>
        </p:nvSpPr>
        <p:spPr>
          <a:xfrm>
            <a:off x="545556" y="518638"/>
            <a:ext cx="9195588" cy="5169994"/>
          </a:xfrm>
          <a:custGeom>
            <a:avLst/>
            <a:gdLst/>
            <a:ahLst/>
            <a:cxnLst/>
            <a:rect l="l" t="t" r="r" b="b"/>
            <a:pathLst>
              <a:path w="9195588" h="5169994">
                <a:moveTo>
                  <a:pt x="0" y="0"/>
                </a:moveTo>
                <a:lnTo>
                  <a:pt x="9195587" y="0"/>
                </a:lnTo>
                <a:lnTo>
                  <a:pt x="9195587" y="5169994"/>
                </a:lnTo>
                <a:lnTo>
                  <a:pt x="0" y="5169994"/>
                </a:lnTo>
                <a:lnTo>
                  <a:pt x="0" y="0"/>
                </a:lnTo>
                <a:close/>
              </a:path>
            </a:pathLst>
          </a:custGeom>
          <a:blipFill>
            <a:blip r:embed="rId3"/>
            <a:stretch>
              <a:fillRect/>
            </a:stretch>
          </a:blipFill>
        </p:spPr>
      </p:sp>
      <p:sp>
        <p:nvSpPr>
          <p:cNvPr id="4" name="TextBox 4"/>
          <p:cNvSpPr txBox="1"/>
          <p:nvPr/>
        </p:nvSpPr>
        <p:spPr>
          <a:xfrm>
            <a:off x="10497167" y="2091337"/>
            <a:ext cx="6762133" cy="1012299"/>
          </a:xfrm>
          <a:prstGeom prst="rect">
            <a:avLst/>
          </a:prstGeom>
        </p:spPr>
        <p:txBody>
          <a:bodyPr lIns="0" tIns="0" rIns="0" bIns="0" rtlCol="0" anchor="t">
            <a:spAutoFit/>
          </a:bodyPr>
          <a:lstStyle/>
          <a:p>
            <a:pPr algn="l">
              <a:lnSpc>
                <a:spcPts val="4059"/>
              </a:lnSpc>
              <a:spcBef>
                <a:spcPct val="0"/>
              </a:spcBef>
            </a:pPr>
            <a:r>
              <a:rPr lang="en-US" sz="2899" spc="289">
                <a:solidFill>
                  <a:srgbClr val="000000"/>
                </a:solidFill>
                <a:latin typeface="Canva Sans"/>
                <a:ea typeface="Canva Sans"/>
                <a:cs typeface="Canva Sans"/>
                <a:sym typeface="Canva Sans"/>
              </a:rPr>
              <a:t>View Fee Structure &amp; Choose Payment Plan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87311" y="5143500"/>
            <a:ext cx="8736633" cy="4911958"/>
          </a:xfrm>
          <a:custGeom>
            <a:avLst/>
            <a:gdLst/>
            <a:ahLst/>
            <a:cxnLst/>
            <a:rect l="l" t="t" r="r" b="b"/>
            <a:pathLst>
              <a:path w="8736633" h="4911958">
                <a:moveTo>
                  <a:pt x="0" y="0"/>
                </a:moveTo>
                <a:lnTo>
                  <a:pt x="8736632" y="0"/>
                </a:lnTo>
                <a:lnTo>
                  <a:pt x="8736632" y="4911958"/>
                </a:lnTo>
                <a:lnTo>
                  <a:pt x="0" y="4911958"/>
                </a:lnTo>
                <a:lnTo>
                  <a:pt x="0" y="0"/>
                </a:lnTo>
                <a:close/>
              </a:path>
            </a:pathLst>
          </a:custGeom>
          <a:blipFill>
            <a:blip r:embed="rId2"/>
            <a:stretch>
              <a:fillRect/>
            </a:stretch>
          </a:blipFill>
        </p:spPr>
      </p:sp>
      <p:sp>
        <p:nvSpPr>
          <p:cNvPr id="3" name="Freeform 3"/>
          <p:cNvSpPr/>
          <p:nvPr/>
        </p:nvSpPr>
        <p:spPr>
          <a:xfrm>
            <a:off x="512478" y="614585"/>
            <a:ext cx="9098404" cy="5115355"/>
          </a:xfrm>
          <a:custGeom>
            <a:avLst/>
            <a:gdLst/>
            <a:ahLst/>
            <a:cxnLst/>
            <a:rect l="l" t="t" r="r" b="b"/>
            <a:pathLst>
              <a:path w="9098404" h="5115355">
                <a:moveTo>
                  <a:pt x="0" y="0"/>
                </a:moveTo>
                <a:lnTo>
                  <a:pt x="9098405" y="0"/>
                </a:lnTo>
                <a:lnTo>
                  <a:pt x="9098405" y="5115355"/>
                </a:lnTo>
                <a:lnTo>
                  <a:pt x="0" y="5115355"/>
                </a:lnTo>
                <a:lnTo>
                  <a:pt x="0" y="0"/>
                </a:lnTo>
                <a:close/>
              </a:path>
            </a:pathLst>
          </a:custGeom>
          <a:blipFill>
            <a:blip r:embed="rId3"/>
            <a:stretch>
              <a:fillRect/>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1711" y="2665389"/>
            <a:ext cx="10477151" cy="5890521"/>
          </a:xfrm>
          <a:custGeom>
            <a:avLst/>
            <a:gdLst/>
            <a:ahLst/>
            <a:cxnLst/>
            <a:rect l="l" t="t" r="r" b="b"/>
            <a:pathLst>
              <a:path w="10477151" h="5890521">
                <a:moveTo>
                  <a:pt x="0" y="0"/>
                </a:moveTo>
                <a:lnTo>
                  <a:pt x="10477150" y="0"/>
                </a:lnTo>
                <a:lnTo>
                  <a:pt x="10477150" y="5890521"/>
                </a:lnTo>
                <a:lnTo>
                  <a:pt x="0" y="5890521"/>
                </a:lnTo>
                <a:lnTo>
                  <a:pt x="0" y="0"/>
                </a:lnTo>
                <a:close/>
              </a:path>
            </a:pathLst>
          </a:custGeom>
          <a:blipFill>
            <a:blip r:embed="rId2"/>
            <a:stretch>
              <a:fillRect/>
            </a:stretch>
          </a:blipFill>
        </p:spPr>
      </p:sp>
      <p:sp>
        <p:nvSpPr>
          <p:cNvPr id="3" name="Freeform 3"/>
          <p:cNvSpPr/>
          <p:nvPr/>
        </p:nvSpPr>
        <p:spPr>
          <a:xfrm>
            <a:off x="11972026" y="1785393"/>
            <a:ext cx="5287274" cy="7472907"/>
          </a:xfrm>
          <a:custGeom>
            <a:avLst/>
            <a:gdLst/>
            <a:ahLst/>
            <a:cxnLst/>
            <a:rect l="l" t="t" r="r" b="b"/>
            <a:pathLst>
              <a:path w="5287274" h="7472907">
                <a:moveTo>
                  <a:pt x="0" y="0"/>
                </a:moveTo>
                <a:lnTo>
                  <a:pt x="5287274" y="0"/>
                </a:lnTo>
                <a:lnTo>
                  <a:pt x="5287274" y="7472907"/>
                </a:lnTo>
                <a:lnTo>
                  <a:pt x="0" y="7472907"/>
                </a:lnTo>
                <a:lnTo>
                  <a:pt x="0" y="0"/>
                </a:lnTo>
                <a:close/>
              </a:path>
            </a:pathLst>
          </a:custGeom>
          <a:blipFill>
            <a:blip r:embed="rId3"/>
            <a:stretch>
              <a:fillRect/>
            </a:stretch>
          </a:blipFill>
        </p:spPr>
      </p:sp>
      <p:sp>
        <p:nvSpPr>
          <p:cNvPr id="4" name="TextBox 4"/>
          <p:cNvSpPr txBox="1"/>
          <p:nvPr/>
        </p:nvSpPr>
        <p:spPr>
          <a:xfrm>
            <a:off x="7643904" y="751178"/>
            <a:ext cx="2470953" cy="497895"/>
          </a:xfrm>
          <a:prstGeom prst="rect">
            <a:avLst/>
          </a:prstGeom>
        </p:spPr>
        <p:txBody>
          <a:bodyPr lIns="0" tIns="0" rIns="0" bIns="0" rtlCol="0" anchor="t">
            <a:spAutoFit/>
          </a:bodyPr>
          <a:lstStyle/>
          <a:p>
            <a:pPr algn="ctr">
              <a:lnSpc>
                <a:spcPts val="4059"/>
              </a:lnSpc>
              <a:spcBef>
                <a:spcPct val="0"/>
              </a:spcBef>
            </a:pPr>
            <a:r>
              <a:rPr lang="en-US" sz="2899" spc="289">
                <a:solidFill>
                  <a:srgbClr val="000000"/>
                </a:solidFill>
                <a:latin typeface="Canva Sans"/>
                <a:ea typeface="Canva Sans"/>
                <a:cs typeface="Canva Sans"/>
                <a:sym typeface="Canva Sans"/>
              </a:rPr>
              <a:t>Fee Receipt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188474"/>
            <a:ext cx="10511888" cy="5910051"/>
          </a:xfrm>
          <a:custGeom>
            <a:avLst/>
            <a:gdLst/>
            <a:ahLst/>
            <a:cxnLst/>
            <a:rect l="l" t="t" r="r" b="b"/>
            <a:pathLst>
              <a:path w="10511888" h="5910051">
                <a:moveTo>
                  <a:pt x="0" y="0"/>
                </a:moveTo>
                <a:lnTo>
                  <a:pt x="10511888" y="0"/>
                </a:lnTo>
                <a:lnTo>
                  <a:pt x="10511888" y="5910052"/>
                </a:lnTo>
                <a:lnTo>
                  <a:pt x="0" y="5910052"/>
                </a:lnTo>
                <a:lnTo>
                  <a:pt x="0" y="0"/>
                </a:lnTo>
                <a:close/>
              </a:path>
            </a:pathLst>
          </a:custGeom>
          <a:blipFill>
            <a:blip r:embed="rId2"/>
            <a:stretch>
              <a:fillRect/>
            </a:stretch>
          </a:blipFill>
        </p:spPr>
      </p:sp>
      <p:sp>
        <p:nvSpPr>
          <p:cNvPr id="3" name="Freeform 3"/>
          <p:cNvSpPr/>
          <p:nvPr/>
        </p:nvSpPr>
        <p:spPr>
          <a:xfrm>
            <a:off x="12446002" y="4851834"/>
            <a:ext cx="4813298" cy="1631460"/>
          </a:xfrm>
          <a:custGeom>
            <a:avLst/>
            <a:gdLst/>
            <a:ahLst/>
            <a:cxnLst/>
            <a:rect l="l" t="t" r="r" b="b"/>
            <a:pathLst>
              <a:path w="4813298" h="1631460">
                <a:moveTo>
                  <a:pt x="0" y="0"/>
                </a:moveTo>
                <a:lnTo>
                  <a:pt x="4813298" y="0"/>
                </a:lnTo>
                <a:lnTo>
                  <a:pt x="4813298" y="1631461"/>
                </a:lnTo>
                <a:lnTo>
                  <a:pt x="0" y="1631461"/>
                </a:lnTo>
                <a:lnTo>
                  <a:pt x="0" y="0"/>
                </a:lnTo>
                <a:close/>
              </a:path>
            </a:pathLst>
          </a:custGeom>
          <a:blipFill>
            <a:blip r:embed="rId3"/>
            <a:stretch>
              <a:fillRect t="-173505" r="-3157" b="-405075"/>
            </a:stretch>
          </a:blipFill>
        </p:spPr>
      </p:sp>
      <p:sp>
        <p:nvSpPr>
          <p:cNvPr id="4" name="TextBox 4"/>
          <p:cNvSpPr txBox="1"/>
          <p:nvPr/>
        </p:nvSpPr>
        <p:spPr>
          <a:xfrm>
            <a:off x="2123992" y="1326686"/>
            <a:ext cx="7689137" cy="497895"/>
          </a:xfrm>
          <a:prstGeom prst="rect">
            <a:avLst/>
          </a:prstGeom>
        </p:spPr>
        <p:txBody>
          <a:bodyPr lIns="0" tIns="0" rIns="0" bIns="0" rtlCol="0" anchor="t">
            <a:spAutoFit/>
          </a:bodyPr>
          <a:lstStyle/>
          <a:p>
            <a:pPr algn="ctr">
              <a:lnSpc>
                <a:spcPts val="4059"/>
              </a:lnSpc>
              <a:spcBef>
                <a:spcPct val="0"/>
              </a:spcBef>
            </a:pPr>
            <a:r>
              <a:rPr lang="en-US" sz="2899" spc="289">
                <a:solidFill>
                  <a:srgbClr val="000000"/>
                </a:solidFill>
                <a:latin typeface="Canva Sans"/>
                <a:ea typeface="Canva Sans"/>
                <a:cs typeface="Canva Sans"/>
                <a:sym typeface="Canva Sans"/>
              </a:rPr>
              <a:t>View Payment History on Dashboard</a:t>
            </a:r>
          </a:p>
        </p:txBody>
      </p:sp>
      <p:sp>
        <p:nvSpPr>
          <p:cNvPr id="5" name="TextBox 5"/>
          <p:cNvSpPr txBox="1"/>
          <p:nvPr/>
        </p:nvSpPr>
        <p:spPr>
          <a:xfrm>
            <a:off x="12059688" y="3972885"/>
            <a:ext cx="5585925" cy="497895"/>
          </a:xfrm>
          <a:prstGeom prst="rect">
            <a:avLst/>
          </a:prstGeom>
        </p:spPr>
        <p:txBody>
          <a:bodyPr lIns="0" tIns="0" rIns="0" bIns="0" rtlCol="0" anchor="t">
            <a:spAutoFit/>
          </a:bodyPr>
          <a:lstStyle/>
          <a:p>
            <a:pPr algn="ctr">
              <a:lnSpc>
                <a:spcPts val="4059"/>
              </a:lnSpc>
              <a:spcBef>
                <a:spcPct val="0"/>
              </a:spcBef>
            </a:pPr>
            <a:r>
              <a:rPr lang="en-US" sz="2899" spc="289">
                <a:solidFill>
                  <a:srgbClr val="000000"/>
                </a:solidFill>
                <a:latin typeface="Canva Sans"/>
                <a:ea typeface="Canva Sans"/>
                <a:cs typeface="Canva Sans"/>
                <a:sym typeface="Canva Sans"/>
              </a:rPr>
              <a:t>Installment Reminder SMS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349965"/>
            <a:ext cx="7854375" cy="4415930"/>
          </a:xfrm>
          <a:custGeom>
            <a:avLst/>
            <a:gdLst/>
            <a:ahLst/>
            <a:cxnLst/>
            <a:rect l="l" t="t" r="r" b="b"/>
            <a:pathLst>
              <a:path w="7854375" h="4415930">
                <a:moveTo>
                  <a:pt x="0" y="0"/>
                </a:moveTo>
                <a:lnTo>
                  <a:pt x="7854375" y="0"/>
                </a:lnTo>
                <a:lnTo>
                  <a:pt x="7854375" y="4415930"/>
                </a:lnTo>
                <a:lnTo>
                  <a:pt x="0" y="4415930"/>
                </a:lnTo>
                <a:lnTo>
                  <a:pt x="0" y="0"/>
                </a:lnTo>
                <a:close/>
              </a:path>
            </a:pathLst>
          </a:custGeom>
          <a:blipFill>
            <a:blip r:embed="rId2"/>
            <a:stretch>
              <a:fillRect/>
            </a:stretch>
          </a:blipFill>
        </p:spPr>
      </p:sp>
      <p:sp>
        <p:nvSpPr>
          <p:cNvPr id="3" name="Freeform 3"/>
          <p:cNvSpPr/>
          <p:nvPr/>
        </p:nvSpPr>
        <p:spPr>
          <a:xfrm>
            <a:off x="1028700" y="5143500"/>
            <a:ext cx="7706877" cy="4333003"/>
          </a:xfrm>
          <a:custGeom>
            <a:avLst/>
            <a:gdLst/>
            <a:ahLst/>
            <a:cxnLst/>
            <a:rect l="l" t="t" r="r" b="b"/>
            <a:pathLst>
              <a:path w="7706877" h="4333003">
                <a:moveTo>
                  <a:pt x="0" y="0"/>
                </a:moveTo>
                <a:lnTo>
                  <a:pt x="7706877" y="0"/>
                </a:lnTo>
                <a:lnTo>
                  <a:pt x="7706877" y="4333003"/>
                </a:lnTo>
                <a:lnTo>
                  <a:pt x="0" y="4333003"/>
                </a:lnTo>
                <a:lnTo>
                  <a:pt x="0" y="0"/>
                </a:lnTo>
                <a:close/>
              </a:path>
            </a:pathLst>
          </a:custGeom>
          <a:blipFill>
            <a:blip r:embed="rId3"/>
            <a:stretch>
              <a:fillRect/>
            </a:stretch>
          </a:blipFill>
        </p:spPr>
      </p:sp>
      <p:sp>
        <p:nvSpPr>
          <p:cNvPr id="4" name="Freeform 4"/>
          <p:cNvSpPr/>
          <p:nvPr/>
        </p:nvSpPr>
        <p:spPr>
          <a:xfrm>
            <a:off x="9467211" y="4988962"/>
            <a:ext cx="8256614" cy="4642079"/>
          </a:xfrm>
          <a:custGeom>
            <a:avLst/>
            <a:gdLst/>
            <a:ahLst/>
            <a:cxnLst/>
            <a:rect l="l" t="t" r="r" b="b"/>
            <a:pathLst>
              <a:path w="8256614" h="4642079">
                <a:moveTo>
                  <a:pt x="0" y="0"/>
                </a:moveTo>
                <a:lnTo>
                  <a:pt x="8256614" y="0"/>
                </a:lnTo>
                <a:lnTo>
                  <a:pt x="8256614" y="4642079"/>
                </a:lnTo>
                <a:lnTo>
                  <a:pt x="0" y="4642079"/>
                </a:lnTo>
                <a:lnTo>
                  <a:pt x="0" y="0"/>
                </a:lnTo>
                <a:close/>
              </a:path>
            </a:pathLst>
          </a:custGeom>
          <a:blipFill>
            <a:blip r:embed="rId4"/>
            <a:stretch>
              <a:fillRect/>
            </a:stretch>
          </a:blipFill>
        </p:spPr>
      </p:sp>
      <p:sp>
        <p:nvSpPr>
          <p:cNvPr id="5" name="TextBox 5"/>
          <p:cNvSpPr txBox="1"/>
          <p:nvPr/>
        </p:nvSpPr>
        <p:spPr>
          <a:xfrm>
            <a:off x="10184554" y="2500780"/>
            <a:ext cx="6566432" cy="1012299"/>
          </a:xfrm>
          <a:prstGeom prst="rect">
            <a:avLst/>
          </a:prstGeom>
        </p:spPr>
        <p:txBody>
          <a:bodyPr lIns="0" tIns="0" rIns="0" bIns="0" rtlCol="0" anchor="t">
            <a:spAutoFit/>
          </a:bodyPr>
          <a:lstStyle/>
          <a:p>
            <a:pPr algn="ctr">
              <a:lnSpc>
                <a:spcPts val="4059"/>
              </a:lnSpc>
              <a:spcBef>
                <a:spcPct val="0"/>
              </a:spcBef>
            </a:pPr>
            <a:r>
              <a:rPr lang="en-US" sz="2899" spc="289">
                <a:solidFill>
                  <a:srgbClr val="000000"/>
                </a:solidFill>
                <a:latin typeface="Canva Sans"/>
                <a:ea typeface="Canva Sans"/>
                <a:cs typeface="Canva Sans"/>
                <a:sym typeface="Canva Sans"/>
              </a:rPr>
              <a:t>Preview/Download Materials &amp; </a:t>
            </a:r>
          </a:p>
          <a:p>
            <a:pPr algn="ctr">
              <a:lnSpc>
                <a:spcPts val="4059"/>
              </a:lnSpc>
              <a:spcBef>
                <a:spcPct val="0"/>
              </a:spcBef>
            </a:pPr>
            <a:r>
              <a:rPr lang="en-US" sz="2899" spc="289">
                <a:solidFill>
                  <a:srgbClr val="000000"/>
                </a:solidFill>
                <a:latin typeface="Canva Sans"/>
                <a:ea typeface="Canva Sans"/>
                <a:cs typeface="Canva Sans"/>
                <a:sym typeface="Canva Sans"/>
              </a:rPr>
              <a:t>Solve Quizzes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972" y="459456"/>
            <a:ext cx="8327954" cy="4510668"/>
          </a:xfrm>
          <a:custGeom>
            <a:avLst/>
            <a:gdLst/>
            <a:ahLst/>
            <a:cxnLst/>
            <a:rect l="l" t="t" r="r" b="b"/>
            <a:pathLst>
              <a:path w="8327954" h="4510668">
                <a:moveTo>
                  <a:pt x="0" y="0"/>
                </a:moveTo>
                <a:lnTo>
                  <a:pt x="8327954" y="0"/>
                </a:lnTo>
                <a:lnTo>
                  <a:pt x="8327954" y="4510668"/>
                </a:lnTo>
                <a:lnTo>
                  <a:pt x="0" y="4510668"/>
                </a:lnTo>
                <a:lnTo>
                  <a:pt x="0" y="0"/>
                </a:lnTo>
                <a:close/>
              </a:path>
            </a:pathLst>
          </a:custGeom>
          <a:blipFill>
            <a:blip r:embed="rId2"/>
            <a:stretch>
              <a:fillRect t="-1901" b="-1901"/>
            </a:stretch>
          </a:blipFill>
        </p:spPr>
      </p:sp>
      <p:sp>
        <p:nvSpPr>
          <p:cNvPr id="3" name="Freeform 3"/>
          <p:cNvSpPr/>
          <p:nvPr/>
        </p:nvSpPr>
        <p:spPr>
          <a:xfrm>
            <a:off x="9146916" y="409135"/>
            <a:ext cx="8112384" cy="4560989"/>
          </a:xfrm>
          <a:custGeom>
            <a:avLst/>
            <a:gdLst/>
            <a:ahLst/>
            <a:cxnLst/>
            <a:rect l="l" t="t" r="r" b="b"/>
            <a:pathLst>
              <a:path w="8112384" h="4560989">
                <a:moveTo>
                  <a:pt x="0" y="0"/>
                </a:moveTo>
                <a:lnTo>
                  <a:pt x="8112384" y="0"/>
                </a:lnTo>
                <a:lnTo>
                  <a:pt x="8112384" y="4560989"/>
                </a:lnTo>
                <a:lnTo>
                  <a:pt x="0" y="4560989"/>
                </a:lnTo>
                <a:lnTo>
                  <a:pt x="0" y="0"/>
                </a:lnTo>
                <a:close/>
              </a:path>
            </a:pathLst>
          </a:custGeom>
          <a:blipFill>
            <a:blip r:embed="rId3"/>
            <a:stretch>
              <a:fillRect/>
            </a:stretch>
          </a:blipFill>
        </p:spPr>
      </p:sp>
      <p:sp>
        <p:nvSpPr>
          <p:cNvPr id="4" name="Freeform 4"/>
          <p:cNvSpPr/>
          <p:nvPr/>
        </p:nvSpPr>
        <p:spPr>
          <a:xfrm>
            <a:off x="635972" y="5143500"/>
            <a:ext cx="8508028" cy="4783430"/>
          </a:xfrm>
          <a:custGeom>
            <a:avLst/>
            <a:gdLst/>
            <a:ahLst/>
            <a:cxnLst/>
            <a:rect l="l" t="t" r="r" b="b"/>
            <a:pathLst>
              <a:path w="8508028" h="4783430">
                <a:moveTo>
                  <a:pt x="0" y="0"/>
                </a:moveTo>
                <a:lnTo>
                  <a:pt x="8508028" y="0"/>
                </a:lnTo>
                <a:lnTo>
                  <a:pt x="8508028" y="4783430"/>
                </a:lnTo>
                <a:lnTo>
                  <a:pt x="0" y="4783430"/>
                </a:lnTo>
                <a:lnTo>
                  <a:pt x="0" y="0"/>
                </a:lnTo>
                <a:close/>
              </a:path>
            </a:pathLst>
          </a:custGeom>
          <a:blipFill>
            <a:blip r:embed="rId4"/>
            <a:stretch>
              <a:fillRect/>
            </a:stretch>
          </a:blipFill>
        </p:spPr>
      </p:sp>
      <p:sp>
        <p:nvSpPr>
          <p:cNvPr id="5" name="Freeform 5"/>
          <p:cNvSpPr/>
          <p:nvPr/>
        </p:nvSpPr>
        <p:spPr>
          <a:xfrm>
            <a:off x="9346462" y="5176181"/>
            <a:ext cx="8391773" cy="4718069"/>
          </a:xfrm>
          <a:custGeom>
            <a:avLst/>
            <a:gdLst/>
            <a:ahLst/>
            <a:cxnLst/>
            <a:rect l="l" t="t" r="r" b="b"/>
            <a:pathLst>
              <a:path w="8391773" h="4718069">
                <a:moveTo>
                  <a:pt x="0" y="0"/>
                </a:moveTo>
                <a:lnTo>
                  <a:pt x="8391773" y="0"/>
                </a:lnTo>
                <a:lnTo>
                  <a:pt x="8391773" y="4718068"/>
                </a:lnTo>
                <a:lnTo>
                  <a:pt x="0" y="4718068"/>
                </a:lnTo>
                <a:lnTo>
                  <a:pt x="0" y="0"/>
                </a:lnTo>
                <a:close/>
              </a:path>
            </a:pathLst>
          </a:custGeom>
          <a:blipFill>
            <a:blip r:embed="rId5"/>
            <a:stretch>
              <a:fillRect/>
            </a:stretch>
          </a:blipFill>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Geometric Quarter Circle Shape"/>
          <p:cNvSpPr/>
          <p:nvPr/>
        </p:nvSpPr>
        <p:spPr>
          <a:xfrm rot="-10800000">
            <a:off x="1083809" y="962372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Geometric Quarter Circle Shape"/>
          <p:cNvSpPr/>
          <p:nvPr/>
        </p:nvSpPr>
        <p:spPr>
          <a:xfrm>
            <a:off x="2237941"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descr="Geometric Quarter Circle Shape"/>
          <p:cNvSpPr/>
          <p:nvPr/>
        </p:nvSpPr>
        <p:spPr>
          <a:xfrm>
            <a:off x="3321750"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descr="Geometric Quarter Circle Shape"/>
          <p:cNvSpPr/>
          <p:nvPr/>
        </p:nvSpPr>
        <p:spPr>
          <a:xfrm rot="5400000">
            <a:off x="0" y="9638357"/>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descr="Geometric Quarter Circle Shape"/>
          <p:cNvSpPr/>
          <p:nvPr/>
        </p:nvSpPr>
        <p:spPr>
          <a:xfrm rot="-5400000">
            <a:off x="15470622" y="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descr="Geometric Quarter Circle Shape"/>
          <p:cNvSpPr/>
          <p:nvPr/>
        </p:nvSpPr>
        <p:spPr>
          <a:xfrm rot="-5400000">
            <a:off x="16554431" y="0"/>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descr="Geometric Quarter Circle Shape"/>
          <p:cNvSpPr/>
          <p:nvPr/>
        </p:nvSpPr>
        <p:spPr>
          <a:xfrm flipH="1" flipV="1">
            <a:off x="17638239" y="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descr="Geometric Quarter Circle Shape"/>
          <p:cNvSpPr/>
          <p:nvPr/>
        </p:nvSpPr>
        <p:spPr>
          <a:xfrm rot="5400000">
            <a:off x="17638239" y="10838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descr="Geometric Quarter Circle Shape"/>
          <p:cNvSpPr/>
          <p:nvPr/>
        </p:nvSpPr>
        <p:spPr>
          <a:xfrm rot="5400000" flipH="1" flipV="1">
            <a:off x="17638239" y="2167618"/>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5467522" y="427604"/>
            <a:ext cx="7352957" cy="923330"/>
          </a:xfrm>
          <a:prstGeom prst="rect">
            <a:avLst/>
          </a:prstGeom>
        </p:spPr>
        <p:txBody>
          <a:bodyPr lIns="0" tIns="0" rIns="0" bIns="0" rtlCol="0" anchor="t">
            <a:spAutoFit/>
          </a:bodyPr>
          <a:lstStyle/>
          <a:p>
            <a:pPr marL="0" lvl="0" indent="0" algn="l">
              <a:lnSpc>
                <a:spcPts val="7154"/>
              </a:lnSpc>
            </a:pPr>
            <a:r>
              <a:rPr lang="en-IN" sz="6000" b="1" dirty="0"/>
              <a:t>Live Project URL</a:t>
            </a:r>
            <a:endParaRPr lang="en-US" sz="5962" b="1" dirty="0">
              <a:solidFill>
                <a:srgbClr val="545454"/>
              </a:solidFill>
              <a:latin typeface="Kollektif Bold"/>
              <a:ea typeface="Kollektif Bold"/>
              <a:cs typeface="Kollektif Bold"/>
              <a:sym typeface="Kollektif Bold"/>
            </a:endParaRPr>
          </a:p>
        </p:txBody>
      </p:sp>
      <p:sp>
        <p:nvSpPr>
          <p:cNvPr id="12" name="TextBox 12"/>
          <p:cNvSpPr txBox="1"/>
          <p:nvPr/>
        </p:nvSpPr>
        <p:spPr>
          <a:xfrm>
            <a:off x="817767" y="3140485"/>
            <a:ext cx="14476196" cy="2392065"/>
          </a:xfrm>
          <a:prstGeom prst="rect">
            <a:avLst/>
          </a:prstGeom>
        </p:spPr>
        <p:txBody>
          <a:bodyPr wrap="square" lIns="0" tIns="0" rIns="0" bIns="0" rtlCol="0" anchor="t">
            <a:spAutoFit/>
          </a:bodyPr>
          <a:lstStyle/>
          <a:p>
            <a:pPr marL="777237" lvl="1" indent="-388618" algn="l">
              <a:lnSpc>
                <a:spcPts val="4679"/>
              </a:lnSpc>
              <a:buFont typeface="Arial"/>
              <a:buChar char="•"/>
            </a:pPr>
            <a:r>
              <a:rPr lang="en-US" sz="3599" dirty="0">
                <a:solidFill>
                  <a:srgbClr val="545454"/>
                </a:solidFill>
                <a:latin typeface="DM Sans"/>
                <a:ea typeface="DM Sans"/>
                <a:cs typeface="DM Sans"/>
                <a:sym typeface="DM Sans"/>
              </a:rPr>
              <a:t>You can explore the live working version of the </a:t>
            </a:r>
            <a:r>
              <a:rPr lang="en-US" sz="3599" dirty="0" err="1">
                <a:solidFill>
                  <a:srgbClr val="545454"/>
                </a:solidFill>
                <a:latin typeface="DM Sans"/>
                <a:ea typeface="DM Sans"/>
                <a:cs typeface="DM Sans"/>
                <a:sym typeface="DM Sans"/>
              </a:rPr>
              <a:t>Shreeji</a:t>
            </a:r>
            <a:r>
              <a:rPr lang="en-US" sz="3599" dirty="0">
                <a:solidFill>
                  <a:srgbClr val="545454"/>
                </a:solidFill>
                <a:latin typeface="DM Sans"/>
                <a:ea typeface="DM Sans"/>
                <a:cs typeface="DM Sans"/>
                <a:sym typeface="DM Sans"/>
              </a:rPr>
              <a:t> Classes web application by visiting the following URL:</a:t>
            </a:r>
          </a:p>
          <a:p>
            <a:pPr marL="388619" lvl="1" algn="l">
              <a:lnSpc>
                <a:spcPts val="4679"/>
              </a:lnSpc>
            </a:pPr>
            <a:endParaRPr lang="en-US" sz="3599" dirty="0">
              <a:solidFill>
                <a:srgbClr val="545454"/>
              </a:solidFill>
              <a:latin typeface="DM Sans"/>
              <a:ea typeface="DM Sans"/>
              <a:cs typeface="DM Sans"/>
              <a:sym typeface="DM Sans"/>
            </a:endParaRPr>
          </a:p>
          <a:p>
            <a:pPr marL="388619" lvl="1" algn="l">
              <a:lnSpc>
                <a:spcPts val="4679"/>
              </a:lnSpc>
            </a:pPr>
            <a:r>
              <a:rPr lang="en-US" sz="3599" dirty="0">
                <a:solidFill>
                  <a:srgbClr val="545454"/>
                </a:solidFill>
                <a:latin typeface="DM Sans"/>
                <a:ea typeface="DM Sans"/>
                <a:cs typeface="DM Sans"/>
                <a:sym typeface="DM Sans"/>
              </a:rPr>
              <a:t>  	🌐https://shreeji-classes-main.vercel.app/</a:t>
            </a:r>
          </a:p>
        </p:txBody>
      </p:sp>
      <p:sp>
        <p:nvSpPr>
          <p:cNvPr id="13" name="AutoShape 13"/>
          <p:cNvSpPr/>
          <p:nvPr/>
        </p:nvSpPr>
        <p:spPr>
          <a:xfrm>
            <a:off x="3863654" y="1398169"/>
            <a:ext cx="8384422" cy="0"/>
          </a:xfrm>
          <a:prstGeom prst="line">
            <a:avLst/>
          </a:prstGeom>
          <a:ln w="104775" cap="flat">
            <a:solidFill>
              <a:srgbClr val="0F0E0C"/>
            </a:solidFill>
            <a:prstDash val="solid"/>
            <a:headEnd type="none" w="sm" len="sm"/>
            <a:tailEnd type="none" w="sm" len="sm"/>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032DA-23F7-370B-1657-B20E1E05FF10}"/>
            </a:ext>
          </a:extLst>
        </p:cNvPr>
        <p:cNvGrpSpPr/>
        <p:nvPr/>
      </p:nvGrpSpPr>
      <p:grpSpPr>
        <a:xfrm>
          <a:off x="0" y="0"/>
          <a:ext cx="0" cy="0"/>
          <a:chOff x="0" y="0"/>
          <a:chExt cx="0" cy="0"/>
        </a:xfrm>
      </p:grpSpPr>
      <p:sp>
        <p:nvSpPr>
          <p:cNvPr id="2" name="Freeform 2" descr="Geometric Quarter Circle Shape">
            <a:extLst>
              <a:ext uri="{FF2B5EF4-FFF2-40B4-BE49-F238E27FC236}">
                <a16:creationId xmlns:a16="http://schemas.microsoft.com/office/drawing/2014/main" id="{74C26791-B720-8F62-253B-12A74646AE55}"/>
              </a:ext>
            </a:extLst>
          </p:cNvPr>
          <p:cNvSpPr/>
          <p:nvPr/>
        </p:nvSpPr>
        <p:spPr>
          <a:xfrm rot="-10800000">
            <a:off x="1083809" y="962372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Geometric Quarter Circle Shape">
            <a:extLst>
              <a:ext uri="{FF2B5EF4-FFF2-40B4-BE49-F238E27FC236}">
                <a16:creationId xmlns:a16="http://schemas.microsoft.com/office/drawing/2014/main" id="{730E6001-1632-AA50-C301-3EF186026C54}"/>
              </a:ext>
            </a:extLst>
          </p:cNvPr>
          <p:cNvSpPr/>
          <p:nvPr/>
        </p:nvSpPr>
        <p:spPr>
          <a:xfrm>
            <a:off x="2237941"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descr="Geometric Quarter Circle Shape">
            <a:extLst>
              <a:ext uri="{FF2B5EF4-FFF2-40B4-BE49-F238E27FC236}">
                <a16:creationId xmlns:a16="http://schemas.microsoft.com/office/drawing/2014/main" id="{7EE7C70A-F0ED-9F9F-5C82-7949956077E6}"/>
              </a:ext>
            </a:extLst>
          </p:cNvPr>
          <p:cNvSpPr/>
          <p:nvPr/>
        </p:nvSpPr>
        <p:spPr>
          <a:xfrm>
            <a:off x="3321750"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descr="Geometric Quarter Circle Shape">
            <a:extLst>
              <a:ext uri="{FF2B5EF4-FFF2-40B4-BE49-F238E27FC236}">
                <a16:creationId xmlns:a16="http://schemas.microsoft.com/office/drawing/2014/main" id="{7875BBB7-8C45-E77C-B2C5-1E901EF885FA}"/>
              </a:ext>
            </a:extLst>
          </p:cNvPr>
          <p:cNvSpPr/>
          <p:nvPr/>
        </p:nvSpPr>
        <p:spPr>
          <a:xfrm rot="5400000">
            <a:off x="0" y="9638357"/>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descr="Geometric Quarter Circle Shape">
            <a:extLst>
              <a:ext uri="{FF2B5EF4-FFF2-40B4-BE49-F238E27FC236}">
                <a16:creationId xmlns:a16="http://schemas.microsoft.com/office/drawing/2014/main" id="{3A1A6180-D000-B72D-360E-BD66AA537900}"/>
              </a:ext>
            </a:extLst>
          </p:cNvPr>
          <p:cNvSpPr/>
          <p:nvPr/>
        </p:nvSpPr>
        <p:spPr>
          <a:xfrm rot="-5400000">
            <a:off x="15470622" y="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descr="Geometric Quarter Circle Shape">
            <a:extLst>
              <a:ext uri="{FF2B5EF4-FFF2-40B4-BE49-F238E27FC236}">
                <a16:creationId xmlns:a16="http://schemas.microsoft.com/office/drawing/2014/main" id="{33D069DC-3AC3-59B2-D642-FEC2732C20F4}"/>
              </a:ext>
            </a:extLst>
          </p:cNvPr>
          <p:cNvSpPr/>
          <p:nvPr/>
        </p:nvSpPr>
        <p:spPr>
          <a:xfrm rot="-5400000">
            <a:off x="16554431" y="0"/>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descr="Geometric Quarter Circle Shape">
            <a:extLst>
              <a:ext uri="{FF2B5EF4-FFF2-40B4-BE49-F238E27FC236}">
                <a16:creationId xmlns:a16="http://schemas.microsoft.com/office/drawing/2014/main" id="{12AC4F0A-AAE5-3D97-A2A6-A3B8B4A080BE}"/>
              </a:ext>
            </a:extLst>
          </p:cNvPr>
          <p:cNvSpPr/>
          <p:nvPr/>
        </p:nvSpPr>
        <p:spPr>
          <a:xfrm flipH="1" flipV="1">
            <a:off x="17638239" y="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descr="Geometric Quarter Circle Shape">
            <a:extLst>
              <a:ext uri="{FF2B5EF4-FFF2-40B4-BE49-F238E27FC236}">
                <a16:creationId xmlns:a16="http://schemas.microsoft.com/office/drawing/2014/main" id="{9C5A09E1-A457-95B7-F31B-3F1693B0FDEE}"/>
              </a:ext>
            </a:extLst>
          </p:cNvPr>
          <p:cNvSpPr/>
          <p:nvPr/>
        </p:nvSpPr>
        <p:spPr>
          <a:xfrm rot="5400000">
            <a:off x="17638239" y="10838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descr="Geometric Quarter Circle Shape">
            <a:extLst>
              <a:ext uri="{FF2B5EF4-FFF2-40B4-BE49-F238E27FC236}">
                <a16:creationId xmlns:a16="http://schemas.microsoft.com/office/drawing/2014/main" id="{A759A12F-1AB3-495F-B9CF-454421821F3E}"/>
              </a:ext>
            </a:extLst>
          </p:cNvPr>
          <p:cNvSpPr/>
          <p:nvPr/>
        </p:nvSpPr>
        <p:spPr>
          <a:xfrm rot="5400000" flipH="1" flipV="1">
            <a:off x="17638239" y="2167618"/>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a:extLst>
              <a:ext uri="{FF2B5EF4-FFF2-40B4-BE49-F238E27FC236}">
                <a16:creationId xmlns:a16="http://schemas.microsoft.com/office/drawing/2014/main" id="{77C84E94-C456-0A2A-5961-4117DBAD1D46}"/>
              </a:ext>
            </a:extLst>
          </p:cNvPr>
          <p:cNvSpPr txBox="1"/>
          <p:nvPr/>
        </p:nvSpPr>
        <p:spPr>
          <a:xfrm>
            <a:off x="5467522" y="427604"/>
            <a:ext cx="7352957" cy="1022952"/>
          </a:xfrm>
          <a:prstGeom prst="rect">
            <a:avLst/>
          </a:prstGeom>
        </p:spPr>
        <p:txBody>
          <a:bodyPr lIns="0" tIns="0" rIns="0" bIns="0" rtlCol="0" anchor="t">
            <a:spAutoFit/>
          </a:bodyPr>
          <a:lstStyle/>
          <a:p>
            <a:pPr marL="0" lvl="0" indent="0" algn="l">
              <a:lnSpc>
                <a:spcPts val="7154"/>
              </a:lnSpc>
            </a:pPr>
            <a:r>
              <a:rPr lang="en-US" sz="5962" b="1">
                <a:solidFill>
                  <a:srgbClr val="545454"/>
                </a:solidFill>
                <a:latin typeface="Kollektif Bold"/>
                <a:ea typeface="Kollektif Bold"/>
                <a:cs typeface="Kollektif Bold"/>
                <a:sym typeface="Kollektif Bold"/>
              </a:rPr>
              <a:t>BIBLIOGRAPHY</a:t>
            </a:r>
          </a:p>
        </p:txBody>
      </p:sp>
      <p:sp>
        <p:nvSpPr>
          <p:cNvPr id="12" name="TextBox 12">
            <a:extLst>
              <a:ext uri="{FF2B5EF4-FFF2-40B4-BE49-F238E27FC236}">
                <a16:creationId xmlns:a16="http://schemas.microsoft.com/office/drawing/2014/main" id="{5BAD3531-951F-F444-2B57-66D0CDB28667}"/>
              </a:ext>
            </a:extLst>
          </p:cNvPr>
          <p:cNvSpPr txBox="1"/>
          <p:nvPr/>
        </p:nvSpPr>
        <p:spPr>
          <a:xfrm>
            <a:off x="230404" y="2480188"/>
            <a:ext cx="17949740" cy="5298049"/>
          </a:xfrm>
          <a:prstGeom prst="rect">
            <a:avLst/>
          </a:prstGeom>
        </p:spPr>
        <p:txBody>
          <a:bodyPr lIns="0" tIns="0" rIns="0" bIns="0" rtlCol="0" anchor="t">
            <a:spAutoFit/>
          </a:bodyPr>
          <a:lstStyle/>
          <a:p>
            <a:pPr marL="777237" lvl="1" indent="-388618" algn="l">
              <a:lnSpc>
                <a:spcPts val="4679"/>
              </a:lnSpc>
              <a:buFont typeface="Arial"/>
              <a:buChar char="•"/>
            </a:pPr>
            <a:r>
              <a:rPr lang="en-US" sz="3599">
                <a:solidFill>
                  <a:srgbClr val="545454"/>
                </a:solidFill>
                <a:latin typeface="DM Sans"/>
                <a:ea typeface="DM Sans"/>
                <a:cs typeface="DM Sans"/>
                <a:sym typeface="DM Sans"/>
              </a:rPr>
              <a:t>React.js - https://react.dev/</a:t>
            </a:r>
          </a:p>
          <a:p>
            <a:pPr marL="777237" lvl="1" indent="-388618" algn="l">
              <a:lnSpc>
                <a:spcPts val="4679"/>
              </a:lnSpc>
              <a:buFont typeface="Arial"/>
              <a:buChar char="•"/>
            </a:pPr>
            <a:r>
              <a:rPr lang="en-US" sz="3599">
                <a:solidFill>
                  <a:srgbClr val="545454"/>
                </a:solidFill>
                <a:latin typeface="DM Sans"/>
                <a:ea typeface="DM Sans"/>
                <a:cs typeface="DM Sans"/>
                <a:sym typeface="DM Sans"/>
              </a:rPr>
              <a:t>Node.js - https://nodejs.org/</a:t>
            </a:r>
          </a:p>
          <a:p>
            <a:pPr marL="777237" lvl="1" indent="-388618" algn="l">
              <a:lnSpc>
                <a:spcPts val="4679"/>
              </a:lnSpc>
              <a:buFont typeface="Arial"/>
              <a:buChar char="•"/>
            </a:pPr>
            <a:r>
              <a:rPr lang="en-US" sz="3599">
                <a:solidFill>
                  <a:srgbClr val="545454"/>
                </a:solidFill>
                <a:latin typeface="DM Sans"/>
                <a:ea typeface="DM Sans"/>
                <a:cs typeface="DM Sans"/>
                <a:sym typeface="DM Sans"/>
              </a:rPr>
              <a:t>Express.js - https://expressjs.com/</a:t>
            </a:r>
          </a:p>
          <a:p>
            <a:pPr marL="777237" lvl="1" indent="-388618" algn="l">
              <a:lnSpc>
                <a:spcPts val="4679"/>
              </a:lnSpc>
              <a:buFont typeface="Arial"/>
              <a:buChar char="•"/>
            </a:pPr>
            <a:r>
              <a:rPr lang="en-US" sz="3599">
                <a:solidFill>
                  <a:srgbClr val="545454"/>
                </a:solidFill>
                <a:latin typeface="DM Sans"/>
                <a:ea typeface="DM Sans"/>
                <a:cs typeface="DM Sans"/>
                <a:sym typeface="DM Sans"/>
              </a:rPr>
              <a:t>MongoDB - https://www.mongodb.com/docs/ </a:t>
            </a:r>
          </a:p>
          <a:p>
            <a:pPr marL="777237" lvl="1" indent="-388618" algn="l">
              <a:lnSpc>
                <a:spcPts val="4679"/>
              </a:lnSpc>
              <a:buFont typeface="Arial"/>
              <a:buChar char="•"/>
            </a:pPr>
            <a:r>
              <a:rPr lang="en-US" sz="3599">
                <a:solidFill>
                  <a:srgbClr val="545454"/>
                </a:solidFill>
                <a:latin typeface="DM Sans"/>
                <a:ea typeface="DM Sans"/>
                <a:cs typeface="DM Sans"/>
                <a:sym typeface="DM Sans"/>
              </a:rPr>
              <a:t>Twilio (SMS &amp; Notifications API) -https://www.twilio.com/docs</a:t>
            </a:r>
          </a:p>
          <a:p>
            <a:pPr marL="777237" lvl="1" indent="-388618" algn="l">
              <a:lnSpc>
                <a:spcPts val="4679"/>
              </a:lnSpc>
              <a:buFont typeface="Arial"/>
              <a:buChar char="•"/>
            </a:pPr>
            <a:r>
              <a:rPr lang="en-US" sz="3599">
                <a:solidFill>
                  <a:srgbClr val="545454"/>
                </a:solidFill>
                <a:latin typeface="DM Sans"/>
                <a:ea typeface="DM Sans"/>
                <a:cs typeface="DM Sans"/>
                <a:sym typeface="DM Sans"/>
              </a:rPr>
              <a:t>Razorpay Payment Gateway - https://razorpay.com/docs/ </a:t>
            </a:r>
          </a:p>
          <a:p>
            <a:pPr marL="777237" lvl="1" indent="-388618" algn="l">
              <a:lnSpc>
                <a:spcPts val="4679"/>
              </a:lnSpc>
              <a:buFont typeface="Arial"/>
              <a:buChar char="•"/>
            </a:pPr>
            <a:r>
              <a:rPr lang="en-US" sz="3599">
                <a:solidFill>
                  <a:srgbClr val="545454"/>
                </a:solidFill>
                <a:latin typeface="DM Sans"/>
                <a:ea typeface="DM Sans"/>
                <a:cs typeface="DM Sans"/>
                <a:sym typeface="DM Sans"/>
              </a:rPr>
              <a:t>Cloudinary - https://cloudinary.com/documentation</a:t>
            </a:r>
          </a:p>
          <a:p>
            <a:pPr marL="777237" lvl="1" indent="-388618" algn="l">
              <a:lnSpc>
                <a:spcPts val="4679"/>
              </a:lnSpc>
              <a:buFont typeface="Arial"/>
              <a:buChar char="•"/>
            </a:pPr>
            <a:r>
              <a:rPr lang="en-US" sz="3599">
                <a:solidFill>
                  <a:srgbClr val="545454"/>
                </a:solidFill>
                <a:latin typeface="DM Sans"/>
                <a:ea typeface="DM Sans"/>
                <a:cs typeface="DM Sans"/>
                <a:sym typeface="DM Sans"/>
              </a:rPr>
              <a:t>Tailwind CSS - https://tailwindcss.com/docs </a:t>
            </a:r>
          </a:p>
          <a:p>
            <a:pPr marL="777237" lvl="1" indent="-388618" algn="l">
              <a:lnSpc>
                <a:spcPts val="4679"/>
              </a:lnSpc>
              <a:buFont typeface="Arial"/>
              <a:buChar char="•"/>
            </a:pPr>
            <a:r>
              <a:rPr lang="en-US" sz="3599">
                <a:solidFill>
                  <a:srgbClr val="545454"/>
                </a:solidFill>
                <a:latin typeface="DM Sans"/>
                <a:ea typeface="DM Sans"/>
                <a:cs typeface="DM Sans"/>
                <a:sym typeface="DM Sans"/>
              </a:rPr>
              <a:t>Razorpay Integration -  https://www.youtube.com/watch?v=ICxmav6ezJM</a:t>
            </a:r>
          </a:p>
        </p:txBody>
      </p:sp>
      <p:sp>
        <p:nvSpPr>
          <p:cNvPr id="13" name="AutoShape 13">
            <a:extLst>
              <a:ext uri="{FF2B5EF4-FFF2-40B4-BE49-F238E27FC236}">
                <a16:creationId xmlns:a16="http://schemas.microsoft.com/office/drawing/2014/main" id="{E834F7E5-72A8-D74D-B62E-D2FA58C86856}"/>
              </a:ext>
            </a:extLst>
          </p:cNvPr>
          <p:cNvSpPr/>
          <p:nvPr/>
        </p:nvSpPr>
        <p:spPr>
          <a:xfrm>
            <a:off x="3863654" y="1398169"/>
            <a:ext cx="8384422" cy="0"/>
          </a:xfrm>
          <a:prstGeom prst="line">
            <a:avLst/>
          </a:prstGeom>
          <a:ln w="104775" cap="flat">
            <a:solidFill>
              <a:srgbClr val="0F0E0C"/>
            </a:solidFill>
            <a:prstDash val="solid"/>
            <a:headEnd type="none" w="sm" len="sm"/>
            <a:tailEnd type="none" w="sm" len="sm"/>
          </a:ln>
        </p:spPr>
      </p:sp>
    </p:spTree>
    <p:extLst>
      <p:ext uri="{BB962C8B-B14F-4D97-AF65-F5344CB8AC3E}">
        <p14:creationId xmlns:p14="http://schemas.microsoft.com/office/powerpoint/2010/main" val="2871639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Geometric Quarter Circle Shape"/>
          <p:cNvSpPr/>
          <p:nvPr/>
        </p:nvSpPr>
        <p:spPr>
          <a:xfrm rot="-10800000">
            <a:off x="1083809" y="962372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Geometric Quarter Circle Shape"/>
          <p:cNvSpPr/>
          <p:nvPr/>
        </p:nvSpPr>
        <p:spPr>
          <a:xfrm>
            <a:off x="2237941"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descr="Geometric Quarter Circle Shape"/>
          <p:cNvSpPr/>
          <p:nvPr/>
        </p:nvSpPr>
        <p:spPr>
          <a:xfrm>
            <a:off x="3321750" y="9666932"/>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descr="Geometric Quarter Circle Shape"/>
          <p:cNvSpPr/>
          <p:nvPr/>
        </p:nvSpPr>
        <p:spPr>
          <a:xfrm rot="5400000">
            <a:off x="0" y="9638357"/>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descr="Geometric Quarter Circle Shape"/>
          <p:cNvSpPr/>
          <p:nvPr/>
        </p:nvSpPr>
        <p:spPr>
          <a:xfrm rot="-5400000">
            <a:off x="15470622" y="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descr="Geometric Quarter Circle Shape"/>
          <p:cNvSpPr/>
          <p:nvPr/>
        </p:nvSpPr>
        <p:spPr>
          <a:xfrm rot="-5400000">
            <a:off x="16554431" y="0"/>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descr="Geometric Quarter Circle Shape"/>
          <p:cNvSpPr/>
          <p:nvPr/>
        </p:nvSpPr>
        <p:spPr>
          <a:xfrm flipH="1" flipV="1">
            <a:off x="17638239" y="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descr="Geometric Quarter Circle Shape"/>
          <p:cNvSpPr/>
          <p:nvPr/>
        </p:nvSpPr>
        <p:spPr>
          <a:xfrm rot="5400000">
            <a:off x="17638239" y="10838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descr="Geometric Quarter Circle Shape"/>
          <p:cNvSpPr/>
          <p:nvPr/>
        </p:nvSpPr>
        <p:spPr>
          <a:xfrm rot="5400000" flipH="1" flipV="1">
            <a:off x="17638239" y="2167618"/>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5467522" y="427604"/>
            <a:ext cx="7352957" cy="1022952"/>
          </a:xfrm>
          <a:prstGeom prst="rect">
            <a:avLst/>
          </a:prstGeom>
        </p:spPr>
        <p:txBody>
          <a:bodyPr lIns="0" tIns="0" rIns="0" bIns="0" rtlCol="0" anchor="t">
            <a:spAutoFit/>
          </a:bodyPr>
          <a:lstStyle/>
          <a:p>
            <a:pPr marL="0" lvl="0" indent="0" algn="l">
              <a:lnSpc>
                <a:spcPts val="7154"/>
              </a:lnSpc>
            </a:pPr>
            <a:r>
              <a:rPr lang="en-US" sz="5962" b="1">
                <a:solidFill>
                  <a:srgbClr val="545454"/>
                </a:solidFill>
                <a:latin typeface="Kollektif Bold"/>
                <a:ea typeface="Kollektif Bold"/>
                <a:cs typeface="Kollektif Bold"/>
                <a:sym typeface="Kollektif Bold"/>
              </a:rPr>
              <a:t>BIBLIOGRAPHY</a:t>
            </a:r>
          </a:p>
        </p:txBody>
      </p:sp>
      <p:sp>
        <p:nvSpPr>
          <p:cNvPr id="12" name="TextBox 12"/>
          <p:cNvSpPr txBox="1"/>
          <p:nvPr/>
        </p:nvSpPr>
        <p:spPr>
          <a:xfrm>
            <a:off x="0" y="1548466"/>
            <a:ext cx="20232087" cy="2981460"/>
          </a:xfrm>
          <a:prstGeom prst="rect">
            <a:avLst/>
          </a:prstGeom>
        </p:spPr>
        <p:txBody>
          <a:bodyPr lIns="0" tIns="0" rIns="0" bIns="0" rtlCol="0" anchor="t">
            <a:spAutoFit/>
          </a:bodyPr>
          <a:lstStyle/>
          <a:p>
            <a:pPr algn="l">
              <a:lnSpc>
                <a:spcPts val="5069"/>
              </a:lnSpc>
            </a:pPr>
            <a:r>
              <a:rPr lang="en-US" sz="3899">
                <a:solidFill>
                  <a:srgbClr val="545454"/>
                </a:solidFill>
                <a:latin typeface="DM Sans"/>
                <a:ea typeface="DM Sans"/>
                <a:cs typeface="DM Sans"/>
                <a:sym typeface="DM Sans"/>
              </a:rPr>
              <a:t> </a:t>
            </a:r>
          </a:p>
          <a:p>
            <a:pPr marL="777237" lvl="1" indent="-388618" algn="l">
              <a:lnSpc>
                <a:spcPts val="4679"/>
              </a:lnSpc>
              <a:buFont typeface="Arial"/>
              <a:buChar char="•"/>
            </a:pPr>
            <a:r>
              <a:rPr lang="en-US" sz="3599">
                <a:solidFill>
                  <a:srgbClr val="545454"/>
                </a:solidFill>
                <a:latin typeface="DM Sans"/>
                <a:ea typeface="DM Sans"/>
                <a:cs typeface="DM Sans"/>
                <a:sym typeface="DM Sans"/>
              </a:rPr>
              <a:t>Twilio Integration - https://www.youtube.com/watch?v=t3pzsLpC1J0</a:t>
            </a:r>
          </a:p>
          <a:p>
            <a:pPr marL="777237" lvl="1" indent="-388618" algn="l">
              <a:lnSpc>
                <a:spcPts val="4679"/>
              </a:lnSpc>
              <a:buFont typeface="Arial"/>
              <a:buChar char="•"/>
            </a:pPr>
            <a:r>
              <a:rPr lang="en-US" sz="3599">
                <a:solidFill>
                  <a:srgbClr val="545454"/>
                </a:solidFill>
                <a:latin typeface="DM Sans"/>
                <a:ea typeface="DM Sans"/>
                <a:cs typeface="DM Sans"/>
                <a:sym typeface="DM Sans"/>
              </a:rPr>
              <a:t>Cloudinary Files Upload - https://www.youtube.com/watch?v=HndnQOwstq8</a:t>
            </a:r>
          </a:p>
          <a:p>
            <a:pPr marL="777237" lvl="1" indent="-388618" algn="l">
              <a:lnSpc>
                <a:spcPts val="4679"/>
              </a:lnSpc>
              <a:buFont typeface="Arial"/>
              <a:buChar char="•"/>
            </a:pPr>
            <a:r>
              <a:rPr lang="en-US" sz="3599">
                <a:solidFill>
                  <a:srgbClr val="545454"/>
                </a:solidFill>
                <a:latin typeface="DM Sans"/>
                <a:ea typeface="DM Sans"/>
                <a:cs typeface="DM Sans"/>
                <a:sym typeface="DM Sans"/>
              </a:rPr>
              <a:t>Canvas Package - https://www.youtube.com/watch?v=MJwaoidar6s</a:t>
            </a:r>
          </a:p>
          <a:p>
            <a:pPr marL="777237" lvl="1" indent="-388618" algn="l">
              <a:lnSpc>
                <a:spcPts val="4679"/>
              </a:lnSpc>
              <a:buFont typeface="Arial"/>
              <a:buChar char="•"/>
            </a:pPr>
            <a:r>
              <a:rPr lang="en-US" sz="3599">
                <a:solidFill>
                  <a:srgbClr val="545454"/>
                </a:solidFill>
                <a:latin typeface="DM Sans"/>
                <a:ea typeface="DM Sans"/>
                <a:cs typeface="DM Sans"/>
                <a:sym typeface="DM Sans"/>
              </a:rPr>
              <a:t>EmailJs - https://www.youtube.com/watch?v=wWiTouBHibs</a:t>
            </a:r>
          </a:p>
        </p:txBody>
      </p:sp>
      <p:sp>
        <p:nvSpPr>
          <p:cNvPr id="13" name="AutoShape 13"/>
          <p:cNvSpPr/>
          <p:nvPr/>
        </p:nvSpPr>
        <p:spPr>
          <a:xfrm>
            <a:off x="3863654" y="1398169"/>
            <a:ext cx="8384422" cy="0"/>
          </a:xfrm>
          <a:prstGeom prst="line">
            <a:avLst/>
          </a:prstGeom>
          <a:ln w="104775" cap="flat">
            <a:solidFill>
              <a:srgbClr val="0F0E0C"/>
            </a:solidFill>
            <a:prstDash val="solid"/>
            <a:headEnd type="none" w="sm" len="sm"/>
            <a:tailEnd type="none" w="sm" len="sm"/>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44078" y="1326430"/>
            <a:ext cx="21203378" cy="7634140"/>
            <a:chOff x="0" y="0"/>
            <a:chExt cx="1128752" cy="406400"/>
          </a:xfrm>
        </p:grpSpPr>
        <p:sp>
          <p:nvSpPr>
            <p:cNvPr id="3" name="Freeform 3"/>
            <p:cNvSpPr/>
            <p:nvPr/>
          </p:nvSpPr>
          <p:spPr>
            <a:xfrm>
              <a:off x="0" y="0"/>
              <a:ext cx="1128752" cy="406400"/>
            </a:xfrm>
            <a:custGeom>
              <a:avLst/>
              <a:gdLst/>
              <a:ahLst/>
              <a:cxnLst/>
              <a:rect l="l" t="t" r="r" b="b"/>
              <a:pathLst>
                <a:path w="1128752" h="406400">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id="4" name="TextBox 4"/>
            <p:cNvSpPr txBox="1"/>
            <p:nvPr/>
          </p:nvSpPr>
          <p:spPr>
            <a:xfrm>
              <a:off x="0" y="-47625"/>
              <a:ext cx="1128752" cy="454025"/>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2958126" y="3970422"/>
            <a:ext cx="12371749" cy="2060405"/>
          </a:xfrm>
          <a:prstGeom prst="rect">
            <a:avLst/>
          </a:prstGeom>
        </p:spPr>
        <p:txBody>
          <a:bodyPr lIns="0" tIns="0" rIns="0" bIns="0" rtlCol="0" anchor="t">
            <a:spAutoFit/>
          </a:bodyPr>
          <a:lstStyle/>
          <a:p>
            <a:pPr marL="0" lvl="0" indent="0" algn="ctr">
              <a:lnSpc>
                <a:spcPts val="16238"/>
              </a:lnSpc>
            </a:pPr>
            <a:r>
              <a:rPr lang="en-US" sz="11598" b="1" spc="579">
                <a:solidFill>
                  <a:srgbClr val="000000"/>
                </a:solidFill>
                <a:latin typeface="Helios Extended Bold"/>
                <a:ea typeface="Helios Extended Bold"/>
                <a:cs typeface="Helios Extended Bold"/>
                <a:sym typeface="Helios Extended Bold"/>
              </a:rPr>
              <a:t>THANK YOU</a:t>
            </a:r>
          </a:p>
        </p:txBody>
      </p:sp>
      <p:grpSp>
        <p:nvGrpSpPr>
          <p:cNvPr id="6" name="Group 6"/>
          <p:cNvGrpSpPr/>
          <p:nvPr/>
        </p:nvGrpSpPr>
        <p:grpSpPr>
          <a:xfrm>
            <a:off x="1028700" y="9009810"/>
            <a:ext cx="248490" cy="24849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8" name="TextBox 8"/>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a:off x="17010810" y="1028700"/>
            <a:ext cx="248490" cy="248490"/>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11" name="TextBox 11"/>
            <p:cNvSpPr txBox="1"/>
            <p:nvPr/>
          </p:nvSpPr>
          <p:spPr>
            <a:xfrm>
              <a:off x="0" y="-47625"/>
              <a:ext cx="812800" cy="860425"/>
            </a:xfrm>
            <a:prstGeom prst="rect">
              <a:avLst/>
            </a:prstGeom>
          </p:spPr>
          <p:txBody>
            <a:bodyPr lIns="50800" tIns="50800" rIns="50800" bIns="50800" rtlCol="0" anchor="ctr"/>
            <a:lstStyle/>
            <a:p>
              <a:pPr algn="ctr">
                <a:lnSpc>
                  <a:spcPts val="3359"/>
                </a:lnSpc>
              </a:pPr>
              <a:endParaRPr/>
            </a:p>
          </p:txBody>
        </p:sp>
      </p:grpSp>
      <p:grpSp>
        <p:nvGrpSpPr>
          <p:cNvPr id="12" name="Group 12"/>
          <p:cNvGrpSpPr/>
          <p:nvPr/>
        </p:nvGrpSpPr>
        <p:grpSpPr>
          <a:xfrm>
            <a:off x="7600950" y="6932479"/>
            <a:ext cx="3086100" cy="804358"/>
            <a:chOff x="0" y="0"/>
            <a:chExt cx="812800" cy="211847"/>
          </a:xfrm>
        </p:grpSpPr>
        <p:sp>
          <p:nvSpPr>
            <p:cNvPr id="13" name="Freeform 13"/>
            <p:cNvSpPr/>
            <p:nvPr/>
          </p:nvSpPr>
          <p:spPr>
            <a:xfrm>
              <a:off x="0" y="0"/>
              <a:ext cx="812800" cy="211847"/>
            </a:xfrm>
            <a:custGeom>
              <a:avLst/>
              <a:gdLst/>
              <a:ahLst/>
              <a:cxnLst/>
              <a:rect l="l" t="t" r="r" b="b"/>
              <a:pathLst>
                <a:path w="812800" h="211847">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4E6E81"/>
            </a:solidFill>
          </p:spPr>
        </p:sp>
        <p:sp>
          <p:nvSpPr>
            <p:cNvPr id="14" name="TextBox 14"/>
            <p:cNvSpPr txBox="1"/>
            <p:nvPr/>
          </p:nvSpPr>
          <p:spPr>
            <a:xfrm>
              <a:off x="0" y="-47625"/>
              <a:ext cx="812800" cy="259472"/>
            </a:xfrm>
            <a:prstGeom prst="rect">
              <a:avLst/>
            </a:prstGeom>
          </p:spPr>
          <p:txBody>
            <a:bodyPr lIns="50800" tIns="50800" rIns="50800" bIns="50800" rtlCol="0" anchor="ctr"/>
            <a:lstStyle/>
            <a:p>
              <a:pPr algn="ctr">
                <a:lnSpc>
                  <a:spcPts val="3079"/>
                </a:lnSpc>
              </a:pPr>
              <a:r>
                <a:rPr lang="en-US" sz="2199" spc="219">
                  <a:solidFill>
                    <a:srgbClr val="FFFFFF"/>
                  </a:solidFill>
                  <a:latin typeface="Lato"/>
                  <a:ea typeface="Lato"/>
                  <a:cs typeface="Lato"/>
                  <a:sym typeface="Lato"/>
                </a:rPr>
                <a:t>27 Dec, 2024</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722</Words>
  <Application>Microsoft Office PowerPoint</Application>
  <PresentationFormat>Custom</PresentationFormat>
  <Paragraphs>130</Paragraphs>
  <Slides>33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DM Sans</vt:lpstr>
      <vt:lpstr>Canva Sans Bold</vt:lpstr>
      <vt:lpstr>DM Sans Bold</vt:lpstr>
      <vt:lpstr>Canva Sans</vt:lpstr>
      <vt:lpstr>Helios Extended Bold</vt:lpstr>
      <vt:lpstr>Kollektif Bold Italics</vt:lpstr>
      <vt:lpstr>Kollektif Bold</vt:lpstr>
      <vt:lpstr>Arial</vt:lpstr>
      <vt:lpstr>Lato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Grey Modern Business Research Proposal Presentation</dc:title>
  <cp:lastModifiedBy>Arun Sanyal</cp:lastModifiedBy>
  <cp:revision>3</cp:revision>
  <dcterms:created xsi:type="dcterms:W3CDTF">2006-08-16T00:00:00Z</dcterms:created>
  <dcterms:modified xsi:type="dcterms:W3CDTF">2025-04-12T09:28:42Z</dcterms:modified>
  <dc:identifier>DAGaFZ_h7Z4</dc:identifier>
</cp:coreProperties>
</file>